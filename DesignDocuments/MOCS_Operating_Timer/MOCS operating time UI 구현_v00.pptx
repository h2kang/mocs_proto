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4" r:id="rId3"/>
    <p:sldId id="265" r:id="rId4"/>
    <p:sldId id="275" r:id="rId5"/>
    <p:sldId id="278" r:id="rId6"/>
    <p:sldId id="279" r:id="rId7"/>
    <p:sldId id="280" r:id="rId8"/>
    <p:sldId id="281" r:id="rId9"/>
    <p:sldId id="282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FF09"/>
    <a:srgbClr val="70AD47"/>
    <a:srgbClr val="C0C0C0"/>
    <a:srgbClr val="2F2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86" d="100"/>
          <a:sy n="86" d="100"/>
        </p:scale>
        <p:origin x="67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9CC5E0-DB2D-451B-A074-760A4402C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E0F337F-9CC6-469B-8CCF-AEF755659A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FDCEE3-4DEA-45D9-BA22-F9A245EF7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EBA0-538E-47B3-ADB9-C013E1CFC2E0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31CA46-2FAA-4976-AF1C-4D9120764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870E0B-712B-4ABD-B1C2-218EBA058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830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FB592-866D-4D55-AFC2-4FC799A44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432D86-B91D-4881-9CDE-774F3261A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74A878-57D2-400E-A26E-2DDB974FA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EBA0-538E-47B3-ADB9-C013E1CFC2E0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8224FF-C78D-43A4-A2A8-025072F21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7070BA-2F42-4A31-8AFB-D34E73F8C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2045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9D1BB-81B8-42FA-B922-A6B17188D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8D2A8B-3EF2-421B-8392-A91BF78A7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E240FE-40FA-4A98-AAA2-D44590773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EBA0-538E-47B3-ADB9-C013E1CFC2E0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4D7289-A6D0-475F-A995-810366FC3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35C75B-F5A4-415B-B05D-B2D066BE3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34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655A-B72C-4763-94D2-2EC76F241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021A96-7255-4E6F-A5DE-95A6EF0746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8A7B09-2E6C-427C-9521-C2F8224F4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75F417-EFC6-4656-ADBE-9CCDEF0A8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EBA0-538E-47B3-ADB9-C013E1CFC2E0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FA8BCB-2292-4AF6-A447-FF155C52E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15640A-4806-4B7A-A84A-126CCB74E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543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A376C6-50DF-493A-A9F2-861AB6EEA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8DCFA2-7168-4631-9745-544B833E1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18A4C9-3F79-4266-A1E1-C20D59D6E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02F6B7E-FAB8-49EC-AD66-ED5D0ADBDC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510BDF0-E880-4735-BD19-9E72BE2046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BC596FB-AB93-40BA-BFE6-FBF281534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EBA0-538E-47B3-ADB9-C013E1CFC2E0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5BC3A55-3F9A-40B4-9AB9-336639156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F116A6D-DC8D-4DB8-A533-B179E226F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216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5948BB-584C-46D9-A940-2432B304D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80B1EC-F074-4719-A5A3-46BFFFE2D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EBA0-538E-47B3-ADB9-C013E1CFC2E0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9701457-144B-4AD0-8B07-B72F366CC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9A17A1-B128-4633-8E2E-591D92C81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660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33ED5A1-0B20-451C-97E8-940543CD7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EBA0-538E-47B3-ADB9-C013E1CFC2E0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C8961DF-FA3D-416B-9AF6-179AD1084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9FA0C9-8543-412B-BAA7-4B55697E6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457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BC13F2-31AD-4163-A17A-B4AF8A9AF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E60607-F31B-4F6B-B8DC-F0D938988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62CE46-F0C2-4022-8E14-6D14604E30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74C213-159B-4E65-ACC1-F1CD49FF0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EBA0-538E-47B3-ADB9-C013E1CFC2E0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2154F7E-DAB2-46ED-8829-1171F6CE9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B73896-9DE1-4344-B07B-BDEC6E3CB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503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322E21-3BF8-46DD-B8C4-F21E73EDF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753B08E-92BD-44F9-968E-4D852075F1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07DD55-2426-4E14-93EA-2EBEC402E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B23E27-C7C1-416C-83C4-B4D199EB2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EBA0-538E-47B3-ADB9-C013E1CFC2E0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68B268-43A3-437D-B279-1C209C433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E115A7-225A-4255-A844-997B2D605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0182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F42D4C-1A6D-47DC-B9DB-679B4BB7E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90CE36-C850-45A5-B5FF-978D89451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732FF5-AC60-47CD-B96E-CF864DE61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EBA0-538E-47B3-ADB9-C013E1CFC2E0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50F91F-22F2-4AC4-B224-F0B7B5854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2B1FAC-5641-4763-8C54-D8B4E79F0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072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AB0D60C-4D33-415F-AA24-D6AA9F47CA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FEF666-D2EF-4D18-BE79-6AB2814B1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FA6CF3-05E2-457B-BE99-E070E022D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EBA0-538E-47B3-ADB9-C013E1CFC2E0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0AD450-1117-4B60-8C57-06CC363DD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7ADA3D-3944-49F4-A265-AA9E3BF09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090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A3DCDF3-8589-481C-8430-2669DA53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34D373-39AC-4ADB-A50F-DAC798B51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C8BBAF-00C4-4838-91D5-A98E4732D8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4EBA0-538E-47B3-ADB9-C013E1CFC2E0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81C091-50A5-4A8F-B57F-531E8F473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092EAA-39CE-49D8-ACCD-2E59C5B61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4845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C99638-F7AB-49C4-9F8C-294B900C2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MOCS Operating Time </a:t>
            </a:r>
            <a:r>
              <a:rPr lang="en-US" altLang="ko-KR"/>
              <a:t>Recipe </a:t>
            </a:r>
            <a:r>
              <a:rPr lang="ko-KR" altLang="en-US" dirty="0"/>
              <a:t>저장 기능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AAB009F6-7E08-49C6-A499-9FF0F606D5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19120" y="1944430"/>
            <a:ext cx="5960539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20983C-5B1F-4173-AA87-4A0EEA554E78}"/>
              </a:ext>
            </a:extLst>
          </p:cNvPr>
          <p:cNvSpPr txBox="1"/>
          <p:nvPr/>
        </p:nvSpPr>
        <p:spPr>
          <a:xfrm>
            <a:off x="838200" y="1608180"/>
            <a:ext cx="41332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시간과 분 저장</a:t>
            </a:r>
            <a:r>
              <a:rPr lang="en-US" altLang="ko-KR" dirty="0"/>
              <a:t>, </a:t>
            </a:r>
            <a:r>
              <a:rPr lang="ko-KR" altLang="en-US" dirty="0"/>
              <a:t>초단위는 상실</a:t>
            </a:r>
            <a:endParaRPr lang="en-US" altLang="ko-KR" dirty="0"/>
          </a:p>
          <a:p>
            <a:r>
              <a:rPr lang="en-US" altLang="ko-KR" dirty="0"/>
              <a:t>Prototype SW</a:t>
            </a:r>
            <a:r>
              <a:rPr lang="ko-KR" altLang="en-US" dirty="0"/>
              <a:t> 데이터 구조상 한계로 </a:t>
            </a:r>
            <a:r>
              <a:rPr lang="ko-KR" altLang="en-US" dirty="0" err="1"/>
              <a:t>초단위</a:t>
            </a:r>
            <a:r>
              <a:rPr lang="ko-KR" altLang="en-US" dirty="0"/>
              <a:t> 저장이 필요하다면 양산에서 반영</a:t>
            </a:r>
          </a:p>
        </p:txBody>
      </p:sp>
    </p:spTree>
    <p:extLst>
      <p:ext uri="{BB962C8B-B14F-4D97-AF65-F5344CB8AC3E}">
        <p14:creationId xmlns:p14="http://schemas.microsoft.com/office/powerpoint/2010/main" val="2662236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FFC0EA-0177-4AF3-812D-E85F67C4B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S-trap</a:t>
            </a:r>
            <a:r>
              <a:rPr lang="ko-KR" altLang="en-US" dirty="0"/>
              <a:t> </a:t>
            </a:r>
            <a:r>
              <a:rPr lang="en-US" altLang="ko-KR" dirty="0"/>
              <a:t>Lifetime </a:t>
            </a:r>
            <a:r>
              <a:rPr lang="ko-KR" altLang="en-US" dirty="0"/>
              <a:t>계산 기능 추가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C3BD3D-3A64-4E3F-8C66-0919E05F6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174507" cy="4351338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Table </a:t>
            </a:r>
            <a:r>
              <a:rPr lang="ko-KR" altLang="en-US" sz="1800" dirty="0"/>
              <a:t>추가 그 외 상수들을 </a:t>
            </a:r>
            <a:r>
              <a:rPr lang="en-US" altLang="ko-KR" sz="1800" dirty="0"/>
              <a:t>Parameter</a:t>
            </a:r>
            <a:r>
              <a:rPr lang="ko-KR" altLang="en-US" sz="1800" dirty="0"/>
              <a:t>로 관리하기 위해서는 데이터 구조 변경이 필요하기 때문에 필요하다면 양산에 반영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A1342D3-7282-4389-B8D9-48785707D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260" y="1559295"/>
            <a:ext cx="7288777" cy="474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447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70">
            <a:extLst>
              <a:ext uri="{FF2B5EF4-FFF2-40B4-BE49-F238E27FC236}">
                <a16:creationId xmlns:a16="http://schemas.microsoft.com/office/drawing/2014/main" id="{482B490A-E782-47B8-958E-5C4ABD809AD2}"/>
              </a:ext>
            </a:extLst>
          </p:cNvPr>
          <p:cNvSpPr txBox="1"/>
          <p:nvPr/>
        </p:nvSpPr>
        <p:spPr>
          <a:xfrm>
            <a:off x="660933" y="1646196"/>
            <a:ext cx="24856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50~100 % : </a:t>
            </a:r>
            <a:r>
              <a:rPr lang="ko-KR" altLang="en-US" dirty="0"/>
              <a:t>초록색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20~50 %: </a:t>
            </a:r>
            <a:r>
              <a:rPr lang="ko-KR" altLang="en-US" dirty="0"/>
              <a:t>주황색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0~20%: </a:t>
            </a:r>
            <a:r>
              <a:rPr lang="ko-KR" altLang="en-US" dirty="0"/>
              <a:t>빨간색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1E85F13-7041-4CF6-9EF5-EF3BC0384D2E}"/>
              </a:ext>
            </a:extLst>
          </p:cNvPr>
          <p:cNvSpPr txBox="1"/>
          <p:nvPr/>
        </p:nvSpPr>
        <p:spPr>
          <a:xfrm>
            <a:off x="172192" y="965335"/>
            <a:ext cx="3311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1-1. S-trap</a:t>
            </a:r>
            <a:r>
              <a:rPr lang="ko-KR" altLang="en-US" dirty="0"/>
              <a:t> </a:t>
            </a:r>
            <a:r>
              <a:rPr lang="en-US" altLang="ko-KR" dirty="0"/>
              <a:t>Life Time Gauge</a:t>
            </a:r>
          </a:p>
          <a:p>
            <a:r>
              <a:rPr lang="en-US" altLang="ko-KR" dirty="0"/>
              <a:t>      (</a:t>
            </a:r>
            <a:r>
              <a:rPr lang="ko-KR" altLang="en-US" dirty="0"/>
              <a:t>메인 화면</a:t>
            </a:r>
            <a:r>
              <a:rPr lang="en-US" altLang="ko-KR" dirty="0"/>
              <a:t>)   </a:t>
            </a:r>
            <a:endParaRPr lang="ko-KR" altLang="en-US" dirty="0"/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4F8B2770-15FD-4ED2-8A16-A4B8436A8CEC}"/>
              </a:ext>
            </a:extLst>
          </p:cNvPr>
          <p:cNvGrpSpPr/>
          <p:nvPr/>
        </p:nvGrpSpPr>
        <p:grpSpPr>
          <a:xfrm>
            <a:off x="749968" y="2841200"/>
            <a:ext cx="845135" cy="325549"/>
            <a:chOff x="9112571" y="4575824"/>
            <a:chExt cx="845135" cy="325549"/>
          </a:xfrm>
        </p:grpSpPr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4CEA1C39-FDB4-4346-9E43-B08BCE397877}"/>
                </a:ext>
              </a:extLst>
            </p:cNvPr>
            <p:cNvSpPr/>
            <p:nvPr/>
          </p:nvSpPr>
          <p:spPr>
            <a:xfrm>
              <a:off x="9338956" y="4743430"/>
              <a:ext cx="392364" cy="117489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DA76D6D-3ED2-44AD-900F-A889152F2330}"/>
                </a:ext>
              </a:extLst>
            </p:cNvPr>
            <p:cNvSpPr txBox="1"/>
            <p:nvPr/>
          </p:nvSpPr>
          <p:spPr>
            <a:xfrm>
              <a:off x="9112571" y="4575824"/>
              <a:ext cx="845135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/>
                <a:t>S-trap Lifetime 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FB73974-29A7-443B-A852-B2C52FB07B2C}"/>
                </a:ext>
              </a:extLst>
            </p:cNvPr>
            <p:cNvSpPr txBox="1"/>
            <p:nvPr/>
          </p:nvSpPr>
          <p:spPr>
            <a:xfrm>
              <a:off x="9355667" y="4701318"/>
              <a:ext cx="358943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/>
                <a:t>99%</a:t>
              </a:r>
              <a:endParaRPr lang="ko-KR" altLang="en-US" sz="700" dirty="0"/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268B12A5-EE51-4AB0-AAA3-6539F3B1B23D}"/>
              </a:ext>
            </a:extLst>
          </p:cNvPr>
          <p:cNvGrpSpPr/>
          <p:nvPr/>
        </p:nvGrpSpPr>
        <p:grpSpPr>
          <a:xfrm>
            <a:off x="749968" y="3473295"/>
            <a:ext cx="845135" cy="325549"/>
            <a:chOff x="9112571" y="4575824"/>
            <a:chExt cx="845135" cy="325549"/>
          </a:xfrm>
        </p:grpSpPr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00D5BE25-3A71-46A1-85A1-91ADEAA4BCA4}"/>
                </a:ext>
              </a:extLst>
            </p:cNvPr>
            <p:cNvSpPr/>
            <p:nvPr/>
          </p:nvSpPr>
          <p:spPr>
            <a:xfrm>
              <a:off x="9338956" y="4743430"/>
              <a:ext cx="392364" cy="117489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0AE2905-1F62-4772-8413-E72FE0E2DD57}"/>
                </a:ext>
              </a:extLst>
            </p:cNvPr>
            <p:cNvSpPr txBox="1"/>
            <p:nvPr/>
          </p:nvSpPr>
          <p:spPr>
            <a:xfrm>
              <a:off x="9355667" y="4701318"/>
              <a:ext cx="358943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/>
                <a:t>30%</a:t>
              </a:r>
              <a:endParaRPr lang="ko-KR" altLang="en-US" sz="700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D406BFD1-D59C-4E51-89A5-9DCFC18DA6DD}"/>
                </a:ext>
              </a:extLst>
            </p:cNvPr>
            <p:cNvSpPr txBox="1"/>
            <p:nvPr/>
          </p:nvSpPr>
          <p:spPr>
            <a:xfrm>
              <a:off x="9112571" y="4575824"/>
              <a:ext cx="845135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/>
                <a:t>S-trap Lifetime </a:t>
              </a: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D53E6788-9CD6-4E88-A383-730882833670}"/>
              </a:ext>
            </a:extLst>
          </p:cNvPr>
          <p:cNvGrpSpPr/>
          <p:nvPr/>
        </p:nvGrpSpPr>
        <p:grpSpPr>
          <a:xfrm>
            <a:off x="1991935" y="2825373"/>
            <a:ext cx="845135" cy="325549"/>
            <a:chOff x="9112571" y="4575824"/>
            <a:chExt cx="845135" cy="325549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CBEFB5D9-399E-42A3-AB18-B9DCD90C26F2}"/>
                </a:ext>
              </a:extLst>
            </p:cNvPr>
            <p:cNvSpPr/>
            <p:nvPr/>
          </p:nvSpPr>
          <p:spPr>
            <a:xfrm>
              <a:off x="9338956" y="4743430"/>
              <a:ext cx="392364" cy="11748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AF2CC67-015A-4311-9061-CEDC45E2557B}"/>
                </a:ext>
              </a:extLst>
            </p:cNvPr>
            <p:cNvSpPr txBox="1"/>
            <p:nvPr/>
          </p:nvSpPr>
          <p:spPr>
            <a:xfrm>
              <a:off x="9355667" y="4701318"/>
              <a:ext cx="358943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/>
                <a:t>5%</a:t>
              </a:r>
              <a:endParaRPr lang="ko-KR" altLang="en-US" sz="700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07EAD45-C06C-4D0D-BB88-E707ABF96931}"/>
                </a:ext>
              </a:extLst>
            </p:cNvPr>
            <p:cNvSpPr txBox="1"/>
            <p:nvPr/>
          </p:nvSpPr>
          <p:spPr>
            <a:xfrm>
              <a:off x="9112571" y="4575824"/>
              <a:ext cx="845135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/>
                <a:t>S-trap Lifetime </a:t>
              </a:r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BC692C22-7A39-4DCB-8B86-866885D5A99D}"/>
              </a:ext>
            </a:extLst>
          </p:cNvPr>
          <p:cNvGrpSpPr/>
          <p:nvPr/>
        </p:nvGrpSpPr>
        <p:grpSpPr>
          <a:xfrm>
            <a:off x="1998427" y="3465091"/>
            <a:ext cx="845135" cy="325549"/>
            <a:chOff x="9112571" y="4575824"/>
            <a:chExt cx="845135" cy="325549"/>
          </a:xfrm>
        </p:grpSpPr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F903C670-2371-4D82-84D2-5C45D8707206}"/>
                </a:ext>
              </a:extLst>
            </p:cNvPr>
            <p:cNvSpPr/>
            <p:nvPr/>
          </p:nvSpPr>
          <p:spPr>
            <a:xfrm>
              <a:off x="9338956" y="4743430"/>
              <a:ext cx="392364" cy="117489"/>
            </a:xfrm>
            <a:prstGeom prst="rect">
              <a:avLst/>
            </a:prstGeom>
            <a:solidFill>
              <a:srgbClr val="C00000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6E2DABD-70A8-4FA2-87BE-E1AAEDFF0B53}"/>
                </a:ext>
              </a:extLst>
            </p:cNvPr>
            <p:cNvSpPr txBox="1"/>
            <p:nvPr/>
          </p:nvSpPr>
          <p:spPr>
            <a:xfrm>
              <a:off x="9355667" y="4701318"/>
              <a:ext cx="358943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/>
                <a:t>0%</a:t>
              </a:r>
              <a:endParaRPr lang="ko-KR" altLang="en-US" sz="700" dirty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CB6299A-D34B-40E4-B6A2-DF1D3746E288}"/>
                </a:ext>
              </a:extLst>
            </p:cNvPr>
            <p:cNvSpPr txBox="1"/>
            <p:nvPr/>
          </p:nvSpPr>
          <p:spPr>
            <a:xfrm>
              <a:off x="9112571" y="4575824"/>
              <a:ext cx="845135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/>
                <a:t>S-trap Lifetime </a:t>
              </a: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ED6DFDEB-430C-4FC1-935F-0B921DE78D55}"/>
              </a:ext>
            </a:extLst>
          </p:cNvPr>
          <p:cNvSpPr txBox="1"/>
          <p:nvPr/>
        </p:nvSpPr>
        <p:spPr>
          <a:xfrm>
            <a:off x="7083632" y="78681"/>
            <a:ext cx="50141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rgbClr val="0070C0"/>
                </a:solidFill>
              </a:rPr>
              <a:t>S-trap</a:t>
            </a:r>
            <a:r>
              <a:rPr lang="ko-KR" altLang="en-US" sz="1100" dirty="0">
                <a:solidFill>
                  <a:srgbClr val="0070C0"/>
                </a:solidFill>
              </a:rPr>
              <a:t>은 메인 화면에서 항상 표시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70C0"/>
                </a:solidFill>
              </a:rPr>
              <a:t>퍼센티지 표시는 </a:t>
            </a:r>
            <a:r>
              <a:rPr lang="en-US" altLang="ko-KR" sz="1100" dirty="0">
                <a:solidFill>
                  <a:srgbClr val="0070C0"/>
                </a:solidFill>
              </a:rPr>
              <a:t>1% </a:t>
            </a:r>
            <a:r>
              <a:rPr lang="ko-KR" altLang="en-US" sz="1100" dirty="0">
                <a:solidFill>
                  <a:srgbClr val="0070C0"/>
                </a:solidFill>
              </a:rPr>
              <a:t>단위로</a:t>
            </a:r>
            <a:r>
              <a:rPr lang="en-US" altLang="ko-KR" sz="1100" dirty="0">
                <a:solidFill>
                  <a:srgbClr val="0070C0"/>
                </a:solidFill>
              </a:rPr>
              <a:t>, </a:t>
            </a:r>
            <a:r>
              <a:rPr lang="ko-KR" altLang="en-US" sz="1100" dirty="0">
                <a:solidFill>
                  <a:srgbClr val="0070C0"/>
                </a:solidFill>
              </a:rPr>
              <a:t>소수점 첫번째 자리에서</a:t>
            </a:r>
            <a:r>
              <a:rPr lang="en-US" altLang="ko-KR" sz="1100" dirty="0">
                <a:solidFill>
                  <a:srgbClr val="0070C0"/>
                </a:solidFill>
              </a:rPr>
              <a:t> </a:t>
            </a:r>
            <a:r>
              <a:rPr lang="ko-KR" altLang="en-US" sz="1100" dirty="0">
                <a:solidFill>
                  <a:srgbClr val="0070C0"/>
                </a:solidFill>
                <a:highlight>
                  <a:srgbClr val="FFFF00"/>
                </a:highlight>
              </a:rPr>
              <a:t>반올림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70C0"/>
                </a:solidFill>
              </a:rPr>
              <a:t>나머지 시간은 별도의 페이지로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1100" dirty="0">
              <a:solidFill>
                <a:srgbClr val="0070C0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1939FC4-7D0F-40EE-BCE2-8852CA79B232}"/>
              </a:ext>
            </a:extLst>
          </p:cNvPr>
          <p:cNvSpPr/>
          <p:nvPr/>
        </p:nvSpPr>
        <p:spPr>
          <a:xfrm>
            <a:off x="687471" y="2744765"/>
            <a:ext cx="905701" cy="545086"/>
          </a:xfrm>
          <a:prstGeom prst="rect">
            <a:avLst/>
          </a:prstGeom>
          <a:noFill/>
          <a:ln>
            <a:solidFill>
              <a:srgbClr val="A7FF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50B196AB-7B09-4F5B-9CD6-7DF9B6A52A49}"/>
              </a:ext>
            </a:extLst>
          </p:cNvPr>
          <p:cNvSpPr/>
          <p:nvPr/>
        </p:nvSpPr>
        <p:spPr>
          <a:xfrm>
            <a:off x="1933266" y="3374610"/>
            <a:ext cx="905701" cy="545086"/>
          </a:xfrm>
          <a:prstGeom prst="rect">
            <a:avLst/>
          </a:prstGeom>
          <a:noFill/>
          <a:ln>
            <a:solidFill>
              <a:srgbClr val="A7FF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6D97EC02-F7A3-41C6-B52C-17C7C61DC157}"/>
              </a:ext>
            </a:extLst>
          </p:cNvPr>
          <p:cNvSpPr/>
          <p:nvPr/>
        </p:nvSpPr>
        <p:spPr>
          <a:xfrm>
            <a:off x="1930189" y="2722824"/>
            <a:ext cx="905701" cy="545086"/>
          </a:xfrm>
          <a:prstGeom prst="rect">
            <a:avLst/>
          </a:prstGeom>
          <a:noFill/>
          <a:ln>
            <a:solidFill>
              <a:srgbClr val="A7FF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BDC9990B-874E-477A-9CC9-9BFD9E6A0C0C}"/>
              </a:ext>
            </a:extLst>
          </p:cNvPr>
          <p:cNvSpPr/>
          <p:nvPr/>
        </p:nvSpPr>
        <p:spPr>
          <a:xfrm>
            <a:off x="697757" y="3386024"/>
            <a:ext cx="905701" cy="545086"/>
          </a:xfrm>
          <a:prstGeom prst="rect">
            <a:avLst/>
          </a:prstGeom>
          <a:noFill/>
          <a:ln>
            <a:solidFill>
              <a:srgbClr val="A7FF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05D5EBB-4FA6-428C-9027-FEC24DB90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156" t="23324" r="17242" b="9951"/>
          <a:stretch/>
        </p:blipFill>
        <p:spPr>
          <a:xfrm>
            <a:off x="5818904" y="1277065"/>
            <a:ext cx="1854729" cy="457610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6EBE5F0-055A-4553-9DE1-B3CC9301BD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4604" t="12163" r="17259" b="12163"/>
          <a:stretch/>
        </p:blipFill>
        <p:spPr>
          <a:xfrm>
            <a:off x="3545667" y="1455420"/>
            <a:ext cx="1564640" cy="383838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2DCC5C4-B1E9-403B-AFC7-F9CAFC697B0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488" t="23537" r="19061" b="9737"/>
          <a:stretch/>
        </p:blipFill>
        <p:spPr>
          <a:xfrm>
            <a:off x="8067943" y="1277065"/>
            <a:ext cx="1522750" cy="457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73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70">
            <a:extLst>
              <a:ext uri="{FF2B5EF4-FFF2-40B4-BE49-F238E27FC236}">
                <a16:creationId xmlns:a16="http://schemas.microsoft.com/office/drawing/2014/main" id="{482B490A-E782-47B8-958E-5C4ABD809AD2}"/>
              </a:ext>
            </a:extLst>
          </p:cNvPr>
          <p:cNvSpPr txBox="1"/>
          <p:nvPr/>
        </p:nvSpPr>
        <p:spPr>
          <a:xfrm>
            <a:off x="660933" y="3011780"/>
            <a:ext cx="24856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50~100 % : </a:t>
            </a:r>
            <a:r>
              <a:rPr lang="ko-KR" altLang="en-US" dirty="0"/>
              <a:t>초록색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20~50 %: </a:t>
            </a:r>
            <a:r>
              <a:rPr lang="ko-KR" altLang="en-US" dirty="0"/>
              <a:t>주황색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0~20%: </a:t>
            </a:r>
            <a:r>
              <a:rPr lang="ko-KR" altLang="en-US" dirty="0"/>
              <a:t>빨간색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1E85F13-7041-4CF6-9EF5-EF3BC0384D2E}"/>
              </a:ext>
            </a:extLst>
          </p:cNvPr>
          <p:cNvSpPr txBox="1"/>
          <p:nvPr/>
        </p:nvSpPr>
        <p:spPr>
          <a:xfrm>
            <a:off x="172192" y="2529444"/>
            <a:ext cx="3311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1-1. S-trap</a:t>
            </a:r>
            <a:r>
              <a:rPr lang="ko-KR" altLang="en-US" dirty="0"/>
              <a:t> </a:t>
            </a:r>
            <a:r>
              <a:rPr lang="en-US" altLang="ko-KR" dirty="0"/>
              <a:t>Life Time Gauge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9CD5CC-1658-45D5-B08E-45CF6C3335C0}"/>
              </a:ext>
            </a:extLst>
          </p:cNvPr>
          <p:cNvSpPr txBox="1"/>
          <p:nvPr/>
        </p:nvSpPr>
        <p:spPr>
          <a:xfrm>
            <a:off x="7083632" y="78681"/>
            <a:ext cx="50141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rgbClr val="0070C0"/>
                </a:solidFill>
              </a:rPr>
              <a:t>S-trap</a:t>
            </a:r>
            <a:r>
              <a:rPr lang="ko-KR" altLang="en-US" sz="1100" dirty="0">
                <a:solidFill>
                  <a:srgbClr val="0070C0"/>
                </a:solidFill>
              </a:rPr>
              <a:t>은 메인 화면에서 항상 표시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70C0"/>
                </a:solidFill>
              </a:rPr>
              <a:t>퍼센티지 표시는 </a:t>
            </a:r>
            <a:r>
              <a:rPr lang="en-US" altLang="ko-KR" sz="1100" dirty="0">
                <a:solidFill>
                  <a:srgbClr val="0070C0"/>
                </a:solidFill>
              </a:rPr>
              <a:t>1% </a:t>
            </a:r>
            <a:r>
              <a:rPr lang="ko-KR" altLang="en-US" sz="1100" dirty="0">
                <a:solidFill>
                  <a:srgbClr val="0070C0"/>
                </a:solidFill>
              </a:rPr>
              <a:t>단위로</a:t>
            </a:r>
            <a:r>
              <a:rPr lang="en-US" altLang="ko-KR" sz="1100" dirty="0">
                <a:solidFill>
                  <a:srgbClr val="0070C0"/>
                </a:solidFill>
              </a:rPr>
              <a:t>, </a:t>
            </a:r>
            <a:r>
              <a:rPr lang="ko-KR" altLang="en-US" sz="1100" dirty="0">
                <a:solidFill>
                  <a:srgbClr val="0070C0"/>
                </a:solidFill>
              </a:rPr>
              <a:t>소수점 첫번째 자리에서</a:t>
            </a:r>
            <a:r>
              <a:rPr lang="en-US" altLang="ko-KR" sz="1100" dirty="0">
                <a:solidFill>
                  <a:srgbClr val="0070C0"/>
                </a:solidFill>
              </a:rPr>
              <a:t> </a:t>
            </a:r>
            <a:r>
              <a:rPr lang="ko-KR" altLang="en-US" sz="1100" dirty="0">
                <a:solidFill>
                  <a:srgbClr val="0070C0"/>
                </a:solidFill>
                <a:highlight>
                  <a:srgbClr val="FFFF00"/>
                </a:highlight>
              </a:rPr>
              <a:t>반올림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70C0"/>
                </a:solidFill>
              </a:rPr>
              <a:t>나머지 시간은 별도의 페이지로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1100" dirty="0">
              <a:solidFill>
                <a:srgbClr val="0070C0"/>
              </a:solidFill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6750D8F-F90F-41E8-8679-E1F6F212E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935" y="1453847"/>
            <a:ext cx="7624763" cy="496252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9D0DA4B-7560-491D-8D1B-DB1D7E725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62" y="302375"/>
            <a:ext cx="3272616" cy="198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606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9F73F81-CEFF-4448-A2C2-A8983A1A8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934" y="1453847"/>
            <a:ext cx="7624763" cy="496252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AF85FAF-494A-4BAD-BCE5-5D483C5EF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62" y="302375"/>
            <a:ext cx="3272616" cy="1985030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482B490A-E782-47B8-958E-5C4ABD809AD2}"/>
              </a:ext>
            </a:extLst>
          </p:cNvPr>
          <p:cNvSpPr txBox="1"/>
          <p:nvPr/>
        </p:nvSpPr>
        <p:spPr>
          <a:xfrm>
            <a:off x="660933" y="3011780"/>
            <a:ext cx="24856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50~100 % : </a:t>
            </a:r>
            <a:r>
              <a:rPr lang="ko-KR" altLang="en-US" dirty="0"/>
              <a:t>초록색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20~50 %: </a:t>
            </a:r>
            <a:r>
              <a:rPr lang="ko-KR" altLang="en-US" dirty="0"/>
              <a:t>주황색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0~20%: </a:t>
            </a:r>
            <a:r>
              <a:rPr lang="ko-KR" altLang="en-US" dirty="0"/>
              <a:t>빨간색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1E85F13-7041-4CF6-9EF5-EF3BC0384D2E}"/>
              </a:ext>
            </a:extLst>
          </p:cNvPr>
          <p:cNvSpPr txBox="1"/>
          <p:nvPr/>
        </p:nvSpPr>
        <p:spPr>
          <a:xfrm>
            <a:off x="172192" y="2529444"/>
            <a:ext cx="3311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1-1. S-trap</a:t>
            </a:r>
            <a:r>
              <a:rPr lang="ko-KR" altLang="en-US" dirty="0"/>
              <a:t> </a:t>
            </a:r>
            <a:r>
              <a:rPr lang="en-US" altLang="ko-KR" dirty="0"/>
              <a:t>Life Time Gauge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9CD5CC-1658-45D5-B08E-45CF6C3335C0}"/>
              </a:ext>
            </a:extLst>
          </p:cNvPr>
          <p:cNvSpPr txBox="1"/>
          <p:nvPr/>
        </p:nvSpPr>
        <p:spPr>
          <a:xfrm>
            <a:off x="7083632" y="78681"/>
            <a:ext cx="50141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rgbClr val="0070C0"/>
                </a:solidFill>
              </a:rPr>
              <a:t>S-trap</a:t>
            </a:r>
            <a:r>
              <a:rPr lang="ko-KR" altLang="en-US" sz="1100" dirty="0">
                <a:solidFill>
                  <a:srgbClr val="0070C0"/>
                </a:solidFill>
              </a:rPr>
              <a:t>은 메인 화면에서 항상 표시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70C0"/>
                </a:solidFill>
              </a:rPr>
              <a:t>퍼센티지 표시는 </a:t>
            </a:r>
            <a:r>
              <a:rPr lang="en-US" altLang="ko-KR" sz="1100" dirty="0">
                <a:solidFill>
                  <a:srgbClr val="0070C0"/>
                </a:solidFill>
              </a:rPr>
              <a:t>1% </a:t>
            </a:r>
            <a:r>
              <a:rPr lang="ko-KR" altLang="en-US" sz="1100" dirty="0">
                <a:solidFill>
                  <a:srgbClr val="0070C0"/>
                </a:solidFill>
              </a:rPr>
              <a:t>단위로</a:t>
            </a:r>
            <a:r>
              <a:rPr lang="en-US" altLang="ko-KR" sz="1100" dirty="0">
                <a:solidFill>
                  <a:srgbClr val="0070C0"/>
                </a:solidFill>
              </a:rPr>
              <a:t>, </a:t>
            </a:r>
            <a:r>
              <a:rPr lang="ko-KR" altLang="en-US" sz="1100" dirty="0">
                <a:solidFill>
                  <a:srgbClr val="0070C0"/>
                </a:solidFill>
              </a:rPr>
              <a:t>소수점 첫번째 자리에서</a:t>
            </a:r>
            <a:r>
              <a:rPr lang="en-US" altLang="ko-KR" sz="1100" dirty="0">
                <a:solidFill>
                  <a:srgbClr val="0070C0"/>
                </a:solidFill>
              </a:rPr>
              <a:t> </a:t>
            </a:r>
            <a:r>
              <a:rPr lang="ko-KR" altLang="en-US" sz="1100" dirty="0">
                <a:solidFill>
                  <a:srgbClr val="0070C0"/>
                </a:solidFill>
                <a:highlight>
                  <a:srgbClr val="FFFF00"/>
                </a:highlight>
              </a:rPr>
              <a:t>반올림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70C0"/>
                </a:solidFill>
              </a:rPr>
              <a:t>나머지 시간은 별도의 페이지로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11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8744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ED9F53D6-555F-4F9D-8F8F-AEBBB3615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933" y="1453846"/>
            <a:ext cx="7624763" cy="496252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2D3F07A-B823-4EC8-AA24-F54C75953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62" y="302375"/>
            <a:ext cx="3272616" cy="1985030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482B490A-E782-47B8-958E-5C4ABD809AD2}"/>
              </a:ext>
            </a:extLst>
          </p:cNvPr>
          <p:cNvSpPr txBox="1"/>
          <p:nvPr/>
        </p:nvSpPr>
        <p:spPr>
          <a:xfrm>
            <a:off x="660933" y="3011780"/>
            <a:ext cx="24856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50~100 % : </a:t>
            </a:r>
            <a:r>
              <a:rPr lang="ko-KR" altLang="en-US" dirty="0"/>
              <a:t>초록색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20~50 %: </a:t>
            </a:r>
            <a:r>
              <a:rPr lang="ko-KR" altLang="en-US" dirty="0"/>
              <a:t>주황색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0~20%: </a:t>
            </a:r>
            <a:r>
              <a:rPr lang="ko-KR" altLang="en-US" dirty="0"/>
              <a:t>빨간색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1E85F13-7041-4CF6-9EF5-EF3BC0384D2E}"/>
              </a:ext>
            </a:extLst>
          </p:cNvPr>
          <p:cNvSpPr txBox="1"/>
          <p:nvPr/>
        </p:nvSpPr>
        <p:spPr>
          <a:xfrm>
            <a:off x="172192" y="2529444"/>
            <a:ext cx="3311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1-1. S-trap</a:t>
            </a:r>
            <a:r>
              <a:rPr lang="ko-KR" altLang="en-US" dirty="0"/>
              <a:t> </a:t>
            </a:r>
            <a:r>
              <a:rPr lang="en-US" altLang="ko-KR" dirty="0"/>
              <a:t>Life Time Gauge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9CD5CC-1658-45D5-B08E-45CF6C3335C0}"/>
              </a:ext>
            </a:extLst>
          </p:cNvPr>
          <p:cNvSpPr txBox="1"/>
          <p:nvPr/>
        </p:nvSpPr>
        <p:spPr>
          <a:xfrm>
            <a:off x="7083632" y="78681"/>
            <a:ext cx="50141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rgbClr val="0070C0"/>
                </a:solidFill>
              </a:rPr>
              <a:t>S-trap</a:t>
            </a:r>
            <a:r>
              <a:rPr lang="ko-KR" altLang="en-US" sz="1100" dirty="0">
                <a:solidFill>
                  <a:srgbClr val="0070C0"/>
                </a:solidFill>
              </a:rPr>
              <a:t>은 메인 화면에서 항상 표시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70C0"/>
                </a:solidFill>
              </a:rPr>
              <a:t>퍼센티지 표시는 </a:t>
            </a:r>
            <a:r>
              <a:rPr lang="en-US" altLang="ko-KR" sz="1100" dirty="0">
                <a:solidFill>
                  <a:srgbClr val="0070C0"/>
                </a:solidFill>
              </a:rPr>
              <a:t>1% </a:t>
            </a:r>
            <a:r>
              <a:rPr lang="ko-KR" altLang="en-US" sz="1100" dirty="0">
                <a:solidFill>
                  <a:srgbClr val="0070C0"/>
                </a:solidFill>
              </a:rPr>
              <a:t>단위로</a:t>
            </a:r>
            <a:r>
              <a:rPr lang="en-US" altLang="ko-KR" sz="1100" dirty="0">
                <a:solidFill>
                  <a:srgbClr val="0070C0"/>
                </a:solidFill>
              </a:rPr>
              <a:t>, </a:t>
            </a:r>
            <a:r>
              <a:rPr lang="ko-KR" altLang="en-US" sz="1100" dirty="0">
                <a:solidFill>
                  <a:srgbClr val="0070C0"/>
                </a:solidFill>
              </a:rPr>
              <a:t>소수점 첫번째 자리에서</a:t>
            </a:r>
            <a:r>
              <a:rPr lang="en-US" altLang="ko-KR" sz="1100" dirty="0">
                <a:solidFill>
                  <a:srgbClr val="0070C0"/>
                </a:solidFill>
              </a:rPr>
              <a:t> </a:t>
            </a:r>
            <a:r>
              <a:rPr lang="ko-KR" altLang="en-US" sz="1100" dirty="0">
                <a:solidFill>
                  <a:srgbClr val="0070C0"/>
                </a:solidFill>
                <a:highlight>
                  <a:srgbClr val="FFFF00"/>
                </a:highlight>
              </a:rPr>
              <a:t>반올림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70C0"/>
                </a:solidFill>
              </a:rPr>
              <a:t>나머지 시간은 별도의 페이지로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11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978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CAB41BE-71F2-458C-B39D-CF75DAE66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62" y="302375"/>
            <a:ext cx="3272616" cy="198503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2A60E02-4936-4621-95F0-CA3424992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932" y="1453846"/>
            <a:ext cx="7624763" cy="4962525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482B490A-E782-47B8-958E-5C4ABD809AD2}"/>
              </a:ext>
            </a:extLst>
          </p:cNvPr>
          <p:cNvSpPr txBox="1"/>
          <p:nvPr/>
        </p:nvSpPr>
        <p:spPr>
          <a:xfrm>
            <a:off x="660933" y="3011780"/>
            <a:ext cx="24856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50~100 % : </a:t>
            </a:r>
            <a:r>
              <a:rPr lang="ko-KR" altLang="en-US" dirty="0"/>
              <a:t>초록색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20~50 %: </a:t>
            </a:r>
            <a:r>
              <a:rPr lang="ko-KR" altLang="en-US" dirty="0"/>
              <a:t>주황색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0~20%: </a:t>
            </a:r>
            <a:r>
              <a:rPr lang="ko-KR" altLang="en-US" dirty="0"/>
              <a:t>빨간색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1E85F13-7041-4CF6-9EF5-EF3BC0384D2E}"/>
              </a:ext>
            </a:extLst>
          </p:cNvPr>
          <p:cNvSpPr txBox="1"/>
          <p:nvPr/>
        </p:nvSpPr>
        <p:spPr>
          <a:xfrm>
            <a:off x="172192" y="2529444"/>
            <a:ext cx="3311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1-1. S-trap</a:t>
            </a:r>
            <a:r>
              <a:rPr lang="ko-KR" altLang="en-US" dirty="0"/>
              <a:t> </a:t>
            </a:r>
            <a:r>
              <a:rPr lang="en-US" altLang="ko-KR" dirty="0"/>
              <a:t>Life Time Gauge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9CD5CC-1658-45D5-B08E-45CF6C3335C0}"/>
              </a:ext>
            </a:extLst>
          </p:cNvPr>
          <p:cNvSpPr txBox="1"/>
          <p:nvPr/>
        </p:nvSpPr>
        <p:spPr>
          <a:xfrm>
            <a:off x="7083632" y="78681"/>
            <a:ext cx="50141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rgbClr val="0070C0"/>
                </a:solidFill>
              </a:rPr>
              <a:t>S-trap</a:t>
            </a:r>
            <a:r>
              <a:rPr lang="ko-KR" altLang="en-US" sz="1100" dirty="0">
                <a:solidFill>
                  <a:srgbClr val="0070C0"/>
                </a:solidFill>
              </a:rPr>
              <a:t>은 메인 화면에서 항상 표시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70C0"/>
                </a:solidFill>
              </a:rPr>
              <a:t>퍼센티지 표시는 </a:t>
            </a:r>
            <a:r>
              <a:rPr lang="en-US" altLang="ko-KR" sz="1100" dirty="0">
                <a:solidFill>
                  <a:srgbClr val="0070C0"/>
                </a:solidFill>
              </a:rPr>
              <a:t>1% </a:t>
            </a:r>
            <a:r>
              <a:rPr lang="ko-KR" altLang="en-US" sz="1100" dirty="0">
                <a:solidFill>
                  <a:srgbClr val="0070C0"/>
                </a:solidFill>
              </a:rPr>
              <a:t>단위로</a:t>
            </a:r>
            <a:r>
              <a:rPr lang="en-US" altLang="ko-KR" sz="1100" dirty="0">
                <a:solidFill>
                  <a:srgbClr val="0070C0"/>
                </a:solidFill>
              </a:rPr>
              <a:t>, </a:t>
            </a:r>
            <a:r>
              <a:rPr lang="ko-KR" altLang="en-US" sz="1100" dirty="0">
                <a:solidFill>
                  <a:srgbClr val="0070C0"/>
                </a:solidFill>
              </a:rPr>
              <a:t>소수점 첫번째 자리에서</a:t>
            </a:r>
            <a:r>
              <a:rPr lang="en-US" altLang="ko-KR" sz="1100" dirty="0">
                <a:solidFill>
                  <a:srgbClr val="0070C0"/>
                </a:solidFill>
              </a:rPr>
              <a:t> </a:t>
            </a:r>
            <a:r>
              <a:rPr lang="ko-KR" altLang="en-US" sz="1100" dirty="0">
                <a:solidFill>
                  <a:srgbClr val="0070C0"/>
                </a:solidFill>
                <a:highlight>
                  <a:srgbClr val="FFFF00"/>
                </a:highlight>
              </a:rPr>
              <a:t>반올림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70C0"/>
                </a:solidFill>
              </a:rPr>
              <a:t>나머지 시간은 별도의 페이지로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1100" dirty="0">
              <a:solidFill>
                <a:srgbClr val="0070C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7A926F-C4E0-4EC6-B70D-E60B5EA2BED1}"/>
              </a:ext>
            </a:extLst>
          </p:cNvPr>
          <p:cNvSpPr txBox="1"/>
          <p:nvPr/>
        </p:nvSpPr>
        <p:spPr>
          <a:xfrm>
            <a:off x="966353" y="393510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0%</a:t>
            </a:r>
            <a:r>
              <a:rPr lang="ko-KR" altLang="en-US" sz="1800" dirty="0"/>
              <a:t>에서 사용 시 </a:t>
            </a:r>
            <a:endParaRPr lang="en-US" altLang="ko-KR" sz="1800" dirty="0"/>
          </a:p>
          <a:p>
            <a:r>
              <a:rPr lang="ko-KR" altLang="en-US" sz="1800" dirty="0"/>
              <a:t>게이지 상자 및 교체 문구</a:t>
            </a:r>
            <a:endParaRPr lang="en-US" altLang="ko-KR" sz="1800" dirty="0"/>
          </a:p>
          <a:p>
            <a:r>
              <a:rPr lang="ko-KR" altLang="en-US" sz="1800" dirty="0"/>
              <a:t>빨간색으로 </a:t>
            </a:r>
            <a:r>
              <a:rPr lang="ko-KR" altLang="en-US" sz="1800" strike="dblStrike" dirty="0">
                <a:solidFill>
                  <a:srgbClr val="FF0000"/>
                </a:solidFill>
              </a:rPr>
              <a:t>점멸</a:t>
            </a:r>
            <a:endParaRPr lang="ko-KR" altLang="en-US" strike="dblStrik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3774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C42B5042-3274-44E8-AD16-F3B101D87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932" y="1453846"/>
            <a:ext cx="7630590" cy="4967981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359C82CF-C41D-48A1-8A45-E7D09B748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62" y="302375"/>
            <a:ext cx="3272616" cy="198503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489CD5CC-1658-45D5-B08E-45CF6C3335C0}"/>
              </a:ext>
            </a:extLst>
          </p:cNvPr>
          <p:cNvSpPr txBox="1"/>
          <p:nvPr/>
        </p:nvSpPr>
        <p:spPr>
          <a:xfrm>
            <a:off x="7083632" y="78681"/>
            <a:ext cx="50141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rgbClr val="0070C0"/>
                </a:solidFill>
              </a:rPr>
              <a:t>S-trap</a:t>
            </a:r>
            <a:r>
              <a:rPr lang="ko-KR" altLang="en-US" sz="1100" dirty="0">
                <a:solidFill>
                  <a:srgbClr val="0070C0"/>
                </a:solidFill>
              </a:rPr>
              <a:t>은 메인 화면에서 항상 표시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70C0"/>
                </a:solidFill>
              </a:rPr>
              <a:t>퍼센티지 표시는 </a:t>
            </a:r>
            <a:r>
              <a:rPr lang="en-US" altLang="ko-KR" sz="1100" dirty="0">
                <a:solidFill>
                  <a:srgbClr val="0070C0"/>
                </a:solidFill>
              </a:rPr>
              <a:t>1% </a:t>
            </a:r>
            <a:r>
              <a:rPr lang="ko-KR" altLang="en-US" sz="1100" dirty="0">
                <a:solidFill>
                  <a:srgbClr val="0070C0"/>
                </a:solidFill>
              </a:rPr>
              <a:t>단위로</a:t>
            </a:r>
            <a:r>
              <a:rPr lang="en-US" altLang="ko-KR" sz="1100" dirty="0">
                <a:solidFill>
                  <a:srgbClr val="0070C0"/>
                </a:solidFill>
              </a:rPr>
              <a:t>, </a:t>
            </a:r>
            <a:r>
              <a:rPr lang="ko-KR" altLang="en-US" sz="1100" dirty="0">
                <a:solidFill>
                  <a:srgbClr val="0070C0"/>
                </a:solidFill>
              </a:rPr>
              <a:t>소수점 첫번째 자리에서</a:t>
            </a:r>
            <a:r>
              <a:rPr lang="en-US" altLang="ko-KR" sz="1100" dirty="0">
                <a:solidFill>
                  <a:srgbClr val="0070C0"/>
                </a:solidFill>
              </a:rPr>
              <a:t> </a:t>
            </a:r>
            <a:r>
              <a:rPr lang="ko-KR" altLang="en-US" sz="1100" dirty="0">
                <a:solidFill>
                  <a:srgbClr val="0070C0"/>
                </a:solidFill>
                <a:highlight>
                  <a:srgbClr val="FFFF00"/>
                </a:highlight>
              </a:rPr>
              <a:t>반올림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70C0"/>
                </a:solidFill>
              </a:rPr>
              <a:t>나머지 시간은 별도의 페이지로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1100" dirty="0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7FFFFF-CA23-4179-90C5-C568CBF16C98}"/>
              </a:ext>
            </a:extLst>
          </p:cNvPr>
          <p:cNvSpPr txBox="1"/>
          <p:nvPr/>
        </p:nvSpPr>
        <p:spPr>
          <a:xfrm>
            <a:off x="427302" y="3002315"/>
            <a:ext cx="27545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MOC RESET </a:t>
            </a:r>
            <a:r>
              <a:rPr lang="ko-KR" altLang="en-US" sz="1200" dirty="0"/>
              <a:t>버튼 클릭 시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팝업창</a:t>
            </a:r>
            <a:endParaRPr lang="en-US" altLang="ko-KR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830AC9-AA29-4F6C-BB01-5C6BAA0B2E40}"/>
              </a:ext>
            </a:extLst>
          </p:cNvPr>
          <p:cNvSpPr txBox="1"/>
          <p:nvPr/>
        </p:nvSpPr>
        <p:spPr>
          <a:xfrm>
            <a:off x="420366" y="3279314"/>
            <a:ext cx="3041713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S-trap RESET </a:t>
            </a:r>
            <a:r>
              <a:rPr lang="ko-KR" altLang="en-US" sz="1200" dirty="0"/>
              <a:t>버튼 클릭 시</a:t>
            </a:r>
            <a:r>
              <a:rPr lang="en-US" altLang="ko-KR" sz="1200" dirty="0"/>
              <a:t>, </a:t>
            </a:r>
            <a:r>
              <a:rPr lang="ko-KR" altLang="en-US" sz="1200" dirty="0"/>
              <a:t>문구</a:t>
            </a:r>
            <a:endParaRPr lang="en-US" altLang="ko-KR" sz="1200" dirty="0"/>
          </a:p>
          <a:p>
            <a:endParaRPr lang="en-US" altLang="ko-KR" sz="1200" dirty="0"/>
          </a:p>
          <a:p>
            <a:pPr algn="ctr"/>
            <a:r>
              <a:rPr lang="en-US" altLang="ko-KR" sz="1600" b="1" dirty="0"/>
              <a:t>Are you sure</a:t>
            </a:r>
          </a:p>
          <a:p>
            <a:pPr algn="ctr"/>
            <a:r>
              <a:rPr lang="en-US" altLang="ko-KR" sz="1600" b="1" dirty="0"/>
              <a:t>you want to reset the gauge?</a:t>
            </a:r>
          </a:p>
          <a:p>
            <a:pPr algn="ctr"/>
            <a:endParaRPr lang="en-US" altLang="ko-KR" sz="1100" dirty="0"/>
          </a:p>
          <a:p>
            <a:r>
              <a:rPr lang="en-US" altLang="ko-KR" sz="1100" dirty="0"/>
              <a:t>Please ensure the first layer catalyst(S-trap) inside the chamber has been replaced before proceeding.</a:t>
            </a:r>
            <a:endParaRPr lang="ko-KR" altLang="en-US" sz="1100" dirty="0"/>
          </a:p>
          <a:p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5924D4-49E1-453F-A2F2-D0B2774F3F8C}"/>
              </a:ext>
            </a:extLst>
          </p:cNvPr>
          <p:cNvSpPr txBox="1"/>
          <p:nvPr/>
        </p:nvSpPr>
        <p:spPr>
          <a:xfrm>
            <a:off x="172192" y="2529444"/>
            <a:ext cx="3041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2-1. MOC,</a:t>
            </a:r>
            <a:r>
              <a:rPr lang="ko-KR" altLang="en-US" dirty="0"/>
              <a:t> </a:t>
            </a:r>
            <a:r>
              <a:rPr lang="en-US" altLang="ko-KR" dirty="0"/>
              <a:t>S-trap</a:t>
            </a:r>
            <a:r>
              <a:rPr lang="ko-KR" altLang="en-US" dirty="0"/>
              <a:t> </a:t>
            </a:r>
            <a:r>
              <a:rPr lang="en-US" altLang="ko-KR" dirty="0"/>
              <a:t>Reset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FDE5CC-96D4-43D7-9B69-6661A9EB02A4}"/>
              </a:ext>
            </a:extLst>
          </p:cNvPr>
          <p:cNvSpPr txBox="1"/>
          <p:nvPr/>
        </p:nvSpPr>
        <p:spPr>
          <a:xfrm>
            <a:off x="420366" y="5120139"/>
            <a:ext cx="304171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Pump RESET </a:t>
            </a:r>
            <a:r>
              <a:rPr lang="ko-KR" altLang="en-US" sz="1200" dirty="0"/>
              <a:t>버튼 클릭 시</a:t>
            </a:r>
            <a:r>
              <a:rPr lang="en-US" altLang="ko-KR" sz="1200" dirty="0"/>
              <a:t>, </a:t>
            </a:r>
            <a:r>
              <a:rPr lang="ko-KR" altLang="en-US" sz="1200" dirty="0"/>
              <a:t>문구</a:t>
            </a:r>
            <a:endParaRPr lang="en-US" altLang="ko-KR" sz="1200" dirty="0"/>
          </a:p>
          <a:p>
            <a:endParaRPr lang="en-US" altLang="ko-KR" sz="1200" dirty="0"/>
          </a:p>
          <a:p>
            <a:pPr algn="ctr"/>
            <a:r>
              <a:rPr lang="en-US" altLang="ko-KR" sz="1600" b="1" dirty="0"/>
              <a:t>Are you sure</a:t>
            </a:r>
          </a:p>
          <a:p>
            <a:pPr algn="ctr"/>
            <a:r>
              <a:rPr lang="en-US" altLang="ko-KR" sz="1600" b="1" dirty="0"/>
              <a:t>you want to reset the time?</a:t>
            </a:r>
          </a:p>
          <a:p>
            <a:pPr algn="ctr"/>
            <a:endParaRPr lang="en-US" altLang="ko-KR" sz="1100" dirty="0"/>
          </a:p>
          <a:p>
            <a:r>
              <a:rPr lang="en-US" altLang="ko-KR" sz="1100" dirty="0"/>
              <a:t>Please ensure the No.1/2 Pump inside the F.O</a:t>
            </a:r>
            <a:r>
              <a:rPr lang="ko-KR" altLang="en-US" sz="1100" dirty="0"/>
              <a:t> </a:t>
            </a:r>
            <a:r>
              <a:rPr lang="en-US" altLang="ko-KR" sz="1100" dirty="0"/>
              <a:t>Supply</a:t>
            </a:r>
            <a:r>
              <a:rPr lang="ko-KR" altLang="en-US" sz="1100" dirty="0"/>
              <a:t> </a:t>
            </a:r>
            <a:r>
              <a:rPr lang="en-US" altLang="ko-KR" sz="1100" dirty="0"/>
              <a:t>pump</a:t>
            </a:r>
            <a:r>
              <a:rPr lang="ko-KR" altLang="en-US" sz="1100" dirty="0"/>
              <a:t> </a:t>
            </a:r>
            <a:r>
              <a:rPr lang="en-US" altLang="ko-KR" sz="1100" dirty="0"/>
              <a:t>has been replaced before proceeding.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053587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9830AC9-AA29-4F6C-BB01-5C6BAA0B2E40}"/>
              </a:ext>
            </a:extLst>
          </p:cNvPr>
          <p:cNvSpPr txBox="1"/>
          <p:nvPr/>
        </p:nvSpPr>
        <p:spPr>
          <a:xfrm>
            <a:off x="420366" y="3279314"/>
            <a:ext cx="3041713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S-trap RESET&gt;YES </a:t>
            </a:r>
            <a:r>
              <a:rPr lang="ko-KR" altLang="en-US" sz="1200" dirty="0"/>
              <a:t>버튼 클릭 시</a:t>
            </a:r>
            <a:r>
              <a:rPr lang="en-US" altLang="ko-KR" sz="1200" dirty="0"/>
              <a:t>, </a:t>
            </a:r>
            <a:r>
              <a:rPr lang="ko-KR" altLang="en-US" sz="1200" dirty="0"/>
              <a:t>문구</a:t>
            </a:r>
            <a:endParaRPr lang="en-US" altLang="ko-KR" sz="1200" dirty="0"/>
          </a:p>
          <a:p>
            <a:endParaRPr lang="en-US" altLang="ko-KR" sz="1200" dirty="0"/>
          </a:p>
          <a:p>
            <a:pPr algn="ctr"/>
            <a:r>
              <a:rPr lang="en-US" altLang="ko-KR" sz="1600" b="1" dirty="0"/>
              <a:t>Do you still want to</a:t>
            </a:r>
          </a:p>
          <a:p>
            <a:pPr algn="ctr"/>
            <a:r>
              <a:rPr lang="en-US" altLang="ko-KR" sz="1600" b="1" dirty="0"/>
              <a:t>proceed?</a:t>
            </a:r>
          </a:p>
          <a:p>
            <a:pPr algn="ctr"/>
            <a:endParaRPr lang="en-US" altLang="ko-KR" sz="1100" dirty="0"/>
          </a:p>
          <a:p>
            <a:r>
              <a:rPr lang="en-US" altLang="ko-KR" sz="1100" dirty="0"/>
              <a:t>Once the gauge is reset, it cannot be undone. If the catalyst has NOT been replaced, MOCS performance prediction may be inaccurate.</a:t>
            </a:r>
            <a:endParaRPr lang="ko-KR" altLang="en-US" sz="1100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BC66903-BCDE-42E5-AA11-EE2DA2820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62" y="312623"/>
            <a:ext cx="3272616" cy="198503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F6902BA-F207-4EE2-910F-26A559E09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405" y="1453846"/>
            <a:ext cx="7649643" cy="5001323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489CD5CC-1658-45D5-B08E-45CF6C3335C0}"/>
              </a:ext>
            </a:extLst>
          </p:cNvPr>
          <p:cNvSpPr txBox="1"/>
          <p:nvPr/>
        </p:nvSpPr>
        <p:spPr>
          <a:xfrm>
            <a:off x="7083632" y="78681"/>
            <a:ext cx="50141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rgbClr val="0070C0"/>
                </a:solidFill>
              </a:rPr>
              <a:t>S-trap</a:t>
            </a:r>
            <a:r>
              <a:rPr lang="ko-KR" altLang="en-US" sz="1100" dirty="0">
                <a:solidFill>
                  <a:srgbClr val="0070C0"/>
                </a:solidFill>
              </a:rPr>
              <a:t>은 메인 화면에서 항상 표시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70C0"/>
                </a:solidFill>
              </a:rPr>
              <a:t>퍼센티지 표시는 </a:t>
            </a:r>
            <a:r>
              <a:rPr lang="en-US" altLang="ko-KR" sz="1100" dirty="0">
                <a:solidFill>
                  <a:srgbClr val="0070C0"/>
                </a:solidFill>
              </a:rPr>
              <a:t>1% </a:t>
            </a:r>
            <a:r>
              <a:rPr lang="ko-KR" altLang="en-US" sz="1100" dirty="0">
                <a:solidFill>
                  <a:srgbClr val="0070C0"/>
                </a:solidFill>
              </a:rPr>
              <a:t>단위로</a:t>
            </a:r>
            <a:r>
              <a:rPr lang="en-US" altLang="ko-KR" sz="1100" dirty="0">
                <a:solidFill>
                  <a:srgbClr val="0070C0"/>
                </a:solidFill>
              </a:rPr>
              <a:t>, </a:t>
            </a:r>
            <a:r>
              <a:rPr lang="ko-KR" altLang="en-US" sz="1100" dirty="0">
                <a:solidFill>
                  <a:srgbClr val="0070C0"/>
                </a:solidFill>
              </a:rPr>
              <a:t>소수점 첫번째 자리에서</a:t>
            </a:r>
            <a:r>
              <a:rPr lang="en-US" altLang="ko-KR" sz="1100" dirty="0">
                <a:solidFill>
                  <a:srgbClr val="0070C0"/>
                </a:solidFill>
              </a:rPr>
              <a:t> </a:t>
            </a:r>
            <a:r>
              <a:rPr lang="ko-KR" altLang="en-US" sz="1100" dirty="0">
                <a:solidFill>
                  <a:srgbClr val="0070C0"/>
                </a:solidFill>
                <a:highlight>
                  <a:srgbClr val="FFFF00"/>
                </a:highlight>
              </a:rPr>
              <a:t>반올림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70C0"/>
                </a:solidFill>
              </a:rPr>
              <a:t>나머지 시간은 별도의 페이지로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1100" dirty="0">
              <a:solidFill>
                <a:srgbClr val="0070C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5924D4-49E1-453F-A2F2-D0B2774F3F8C}"/>
              </a:ext>
            </a:extLst>
          </p:cNvPr>
          <p:cNvSpPr txBox="1"/>
          <p:nvPr/>
        </p:nvSpPr>
        <p:spPr>
          <a:xfrm>
            <a:off x="172192" y="2529444"/>
            <a:ext cx="3041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2-1. MOC,</a:t>
            </a:r>
            <a:r>
              <a:rPr lang="ko-KR" altLang="en-US" dirty="0"/>
              <a:t> </a:t>
            </a:r>
            <a:r>
              <a:rPr lang="en-US" altLang="ko-KR" dirty="0"/>
              <a:t>S-trap</a:t>
            </a:r>
            <a:r>
              <a:rPr lang="ko-KR" altLang="en-US" dirty="0"/>
              <a:t> </a:t>
            </a:r>
            <a:r>
              <a:rPr lang="en-US" altLang="ko-KR" dirty="0"/>
              <a:t>Reset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7CD2BD-0667-47B4-8F82-6A0C44540D26}"/>
              </a:ext>
            </a:extLst>
          </p:cNvPr>
          <p:cNvSpPr txBox="1"/>
          <p:nvPr/>
        </p:nvSpPr>
        <p:spPr>
          <a:xfrm>
            <a:off x="427302" y="3002315"/>
            <a:ext cx="2895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MOC RESET&gt;YES </a:t>
            </a:r>
            <a:r>
              <a:rPr lang="ko-KR" altLang="en-US" sz="1200" dirty="0"/>
              <a:t>버튼 클릭 시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팝업창</a:t>
            </a:r>
            <a:endParaRPr lang="en-US" altLang="ko-KR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E1444D-F039-48E8-A53A-DD068699E9EC}"/>
              </a:ext>
            </a:extLst>
          </p:cNvPr>
          <p:cNvSpPr txBox="1"/>
          <p:nvPr/>
        </p:nvSpPr>
        <p:spPr>
          <a:xfrm>
            <a:off x="420366" y="5120139"/>
            <a:ext cx="3041713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Pump RESET&gt;YES </a:t>
            </a:r>
            <a:r>
              <a:rPr lang="ko-KR" altLang="en-US" sz="1200" dirty="0"/>
              <a:t>버튼 클릭 시</a:t>
            </a:r>
            <a:r>
              <a:rPr lang="en-US" altLang="ko-KR" sz="1200" dirty="0"/>
              <a:t>, </a:t>
            </a:r>
            <a:r>
              <a:rPr lang="ko-KR" altLang="en-US" sz="1200" dirty="0"/>
              <a:t>문구</a:t>
            </a:r>
            <a:endParaRPr lang="en-US" altLang="ko-KR" sz="1200" dirty="0"/>
          </a:p>
          <a:p>
            <a:endParaRPr lang="en-US" altLang="ko-KR" sz="1200" dirty="0"/>
          </a:p>
          <a:p>
            <a:pPr algn="ctr"/>
            <a:r>
              <a:rPr lang="en-US" altLang="ko-KR" sz="1600" b="1" dirty="0"/>
              <a:t>Do you still want to</a:t>
            </a:r>
          </a:p>
          <a:p>
            <a:pPr algn="ctr"/>
            <a:r>
              <a:rPr lang="en-US" altLang="ko-KR" sz="1600" b="1" dirty="0"/>
              <a:t>proceed?</a:t>
            </a:r>
          </a:p>
          <a:p>
            <a:pPr algn="ctr"/>
            <a:endParaRPr lang="en-US" altLang="ko-KR" sz="1100" dirty="0"/>
          </a:p>
          <a:p>
            <a:r>
              <a:rPr lang="en-US" altLang="ko-KR" sz="1100" dirty="0"/>
              <a:t>Once the time is reset, it cannot be undone. If the pump has NOT been replaced, MOCS performance prediction may be inaccurate.</a:t>
            </a:r>
            <a:endParaRPr lang="ko-KR" altLang="en-US" sz="1100" dirty="0"/>
          </a:p>
          <a:p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961931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3984</TotalTime>
  <Words>481</Words>
  <Application>Microsoft Office PowerPoint</Application>
  <PresentationFormat>와이드스크린</PresentationFormat>
  <Paragraphs>86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MOCS Operating Time Recipe 저장 기능</vt:lpstr>
      <vt:lpstr>S-trap Lifetime 계산 기능 추가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김희경(Kim, Heekyoung)/엔지니어/친환경시스템설계부/HD현대중공업</dc:creator>
  <cp:lastModifiedBy>HHI</cp:lastModifiedBy>
  <cp:revision>47</cp:revision>
  <dcterms:created xsi:type="dcterms:W3CDTF">2025-11-27T23:30:57Z</dcterms:created>
  <dcterms:modified xsi:type="dcterms:W3CDTF">2026-01-28T09:54:39Z</dcterms:modified>
</cp:coreProperties>
</file>