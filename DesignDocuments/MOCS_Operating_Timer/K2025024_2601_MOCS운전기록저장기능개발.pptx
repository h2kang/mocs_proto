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4"/>
  </p:sldMasterIdLst>
  <p:notesMasterIdLst>
    <p:notesMasterId r:id="rId19"/>
  </p:notesMasterIdLst>
  <p:handoutMasterIdLst>
    <p:handoutMasterId r:id="rId20"/>
  </p:handoutMasterIdLst>
  <p:sldIdLst>
    <p:sldId id="577" r:id="rId5"/>
    <p:sldId id="568" r:id="rId6"/>
    <p:sldId id="1020" r:id="rId7"/>
    <p:sldId id="1021" r:id="rId8"/>
    <p:sldId id="1022" r:id="rId9"/>
    <p:sldId id="1031" r:id="rId10"/>
    <p:sldId id="1023" r:id="rId11"/>
    <p:sldId id="1024" r:id="rId12"/>
    <p:sldId id="1025" r:id="rId13"/>
    <p:sldId id="1026" r:id="rId14"/>
    <p:sldId id="1027" r:id="rId15"/>
    <p:sldId id="1028" r:id="rId16"/>
    <p:sldId id="1030" r:id="rId17"/>
    <p:sldId id="572" r:id="rId18"/>
  </p:sldIdLst>
  <p:sldSz cx="9906000" cy="6858000" type="A4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 Cover" id="{806C29B1-2065-45FC-887A-40A95B96DF72}">
          <p14:sldIdLst>
            <p14:sldId id="577"/>
            <p14:sldId id="568"/>
            <p14:sldId id="1020"/>
            <p14:sldId id="1021"/>
            <p14:sldId id="1022"/>
            <p14:sldId id="1031"/>
            <p14:sldId id="1023"/>
            <p14:sldId id="1024"/>
            <p14:sldId id="1025"/>
            <p14:sldId id="1026"/>
            <p14:sldId id="1027"/>
            <p14:sldId id="1028"/>
            <p14:sldId id="1030"/>
            <p14:sldId id="572"/>
          </p14:sldIdLst>
        </p14:section>
      </p14:sectionLst>
    </p:ext>
    <p:ext uri="{EFAFB233-063F-42B5-8137-9DF3F51BA10A}">
      <p15:sldGuideLst xmlns:p15="http://schemas.microsoft.com/office/powerpoint/2012/main">
        <p15:guide id="5" orient="horz" pos="2409" userDrawn="1">
          <p15:clr>
            <a:srgbClr val="A4A3A4"/>
          </p15:clr>
        </p15:guide>
        <p15:guide id="6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FF02"/>
    <a:srgbClr val="00C000"/>
    <a:srgbClr val="00C0C0"/>
    <a:srgbClr val="C0C040"/>
    <a:srgbClr val="03B348"/>
    <a:srgbClr val="7030A0"/>
    <a:srgbClr val="F8EDED"/>
    <a:srgbClr val="034EA2"/>
    <a:srgbClr val="ED7D31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6" autoAdjust="0"/>
    <p:restoredTop sz="89700" autoAdjust="0"/>
  </p:normalViewPr>
  <p:slideViewPr>
    <p:cSldViewPr snapToGrid="0">
      <p:cViewPr varScale="1">
        <p:scale>
          <a:sx n="114" d="100"/>
          <a:sy n="114" d="100"/>
        </p:scale>
        <p:origin x="114" y="798"/>
      </p:cViewPr>
      <p:guideLst>
        <p:guide orient="horz" pos="2409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874"/>
    </p:cViewPr>
  </p:sorterViewPr>
  <p:notesViewPr>
    <p:cSldViewPr snapToGrid="0" showGuides="1">
      <p:cViewPr varScale="1">
        <p:scale>
          <a:sx n="110" d="100"/>
          <a:sy n="110" d="100"/>
        </p:scale>
        <p:origin x="2658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77" tIns="47338" rIns="94677" bIns="4733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77" tIns="47338" rIns="94677" bIns="47338" rtlCol="0"/>
          <a:lstStyle>
            <a:lvl1pPr algn="r">
              <a:defRPr sz="1200"/>
            </a:lvl1pPr>
          </a:lstStyle>
          <a:p>
            <a:fld id="{31D93915-5F23-4F91-9FC2-4FA788A7AD9D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677" tIns="47338" rIns="94677" bIns="4733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4677" tIns="47338" rIns="94677" bIns="47338" rtlCol="0" anchor="b"/>
          <a:lstStyle>
            <a:lvl1pPr algn="r">
              <a:defRPr sz="1200"/>
            </a:lvl1pPr>
          </a:lstStyle>
          <a:p>
            <a:fld id="{6FB93CE5-C5C7-42D6-9894-0B7E919C7A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0479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77" tIns="47338" rIns="94677" bIns="47338" rtlCol="0"/>
          <a:lstStyle>
            <a:lvl1pPr algn="l">
              <a:defRPr sz="1200" b="0" i="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77" tIns="47338" rIns="94677" bIns="47338" rtlCol="0"/>
          <a:lstStyle>
            <a:lvl1pPr algn="r">
              <a:defRPr sz="1200" b="0" i="0">
                <a:latin typeface="Noto Sans" panose="020B0502040504020204" pitchFamily="34" charset="0"/>
              </a:defRPr>
            </a:lvl1pPr>
          </a:lstStyle>
          <a:p>
            <a:fld id="{62FF24ED-D4A4-B24F-A6FF-7507747C9750}" type="datetimeFigureOut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77" tIns="47338" rIns="94677" bIns="4733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677" tIns="47338" rIns="94677" bIns="47338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677" tIns="47338" rIns="94677" bIns="47338" rtlCol="0" anchor="b"/>
          <a:lstStyle>
            <a:lvl1pPr algn="l">
              <a:defRPr sz="1200" b="0" i="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4677" tIns="47338" rIns="94677" bIns="47338" rtlCol="0" anchor="b"/>
          <a:lstStyle>
            <a:lvl1pPr algn="r">
              <a:defRPr sz="1200" b="0" i="0">
                <a:latin typeface="Noto Sans" panose="020B0502040504020204" pitchFamily="34" charset="0"/>
              </a:defRPr>
            </a:lvl1pPr>
          </a:lstStyle>
          <a:p>
            <a:fld id="{FA52AB45-9A60-CC45-B78B-49B0E8E9CD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0328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52AB45-9A60-CC45-B78B-49B0E8E9CDC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954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2AB45-9A60-CC45-B78B-49B0E8E9CDC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896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2AB45-9A60-CC45-B78B-49B0E8E9CDC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135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2AB45-9A60-CC45-B78B-49B0E8E9CDC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276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2AB45-9A60-CC45-B78B-49B0E8E9CDC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855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2AB45-9A60-CC45-B78B-49B0E8E9CDC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788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2AB45-9A60-CC45-B78B-49B0E8E9CDC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718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2AB45-9A60-CC45-B78B-49B0E8E9CDC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193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FA547C2-9770-4BC0-BAA4-42C9FC9AE4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538572"/>
            <a:ext cx="2716229" cy="452895"/>
          </a:xfrm>
          <a:prstGeom prst="rect">
            <a:avLst/>
          </a:prstGeom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57DFA6C7-5A44-5201-8BAE-8AE64FFC87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4601" y="0"/>
            <a:ext cx="4851399" cy="6858000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472BF35-5190-AE3B-74DD-EF2DDEFA720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32000" y="4680000"/>
            <a:ext cx="2880000" cy="540000"/>
          </a:xfrm>
          <a:prstGeom prst="rect">
            <a:avLst/>
          </a:prstGeom>
        </p:spPr>
        <p:txBody>
          <a:bodyPr lIns="108000" tIns="36000" rIns="36000" bIns="36000" anchor="ctr"/>
          <a:lstStyle>
            <a:lvl1pPr>
              <a:defRPr sz="1800" b="0" i="0">
                <a:solidFill>
                  <a:schemeClr val="accent4"/>
                </a:solidFill>
                <a:latin typeface="HD현대체  Medium" panose="020B0600000101010101" pitchFamily="50" charset="-127"/>
                <a:ea typeface="HD현대체  Medium" panose="020B0600000101010101" pitchFamily="50" charset="-127"/>
              </a:defRPr>
            </a:lvl1pPr>
          </a:lstStyle>
          <a:p>
            <a:fld id="{E284A3D1-4361-4F05-9198-86186F156E44}" type="datetime1">
              <a:rPr lang="ko-KR" altLang="en-US" smtClean="0"/>
              <a:t>2026-01-29</a:t>
            </a:fld>
            <a:endParaRPr lang="en-GB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F8693F23-110C-F6ED-610E-84E5224977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000" y="2520000"/>
            <a:ext cx="7200000" cy="1260000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sz="3600" b="1" i="0">
                <a:solidFill>
                  <a:schemeClr val="accent4"/>
                </a:solidFill>
                <a:latin typeface="HD현대체 Bold" panose="02090600000101010101" pitchFamily="18" charset="-127"/>
                <a:ea typeface="HD현대체 Bold" panose="02090600000101010101" pitchFamily="18" charset="-127"/>
              </a:defRPr>
            </a:lvl1pPr>
          </a:lstStyle>
          <a:p>
            <a:pPr lvl="0"/>
            <a:r>
              <a:rPr lang="en-GB" dirty="0"/>
              <a:t>PRESENTATION HEADLINE     GOES HERE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E798D3-5B64-4BF3-8EFB-FF77EA9259C7}"/>
              </a:ext>
            </a:extLst>
          </p:cNvPr>
          <p:cNvSpPr/>
          <p:nvPr userDrawn="1"/>
        </p:nvSpPr>
        <p:spPr>
          <a:xfrm>
            <a:off x="251670" y="6054091"/>
            <a:ext cx="2609640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effectLst>
                  <a:glow rad="38100">
                    <a:schemeClr val="bg1"/>
                  </a:glow>
                </a:effectLst>
                <a:latin typeface="+mj-ea"/>
                <a:ea typeface="+mj-ea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5209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A154C001-C5F6-4DF2-8411-19AD64C692D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lIns="72000" tIns="36000" rIns="72000" bIns="36000">
            <a:noAutofit/>
          </a:bodyPr>
          <a:lstStyle>
            <a:lvl1pPr marL="0" indent="0">
              <a:buNone/>
              <a:defRPr lang="ko-KR" altLang="en-US" b="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185738" lvl="0" indent="-185738">
              <a:lnSpc>
                <a:spcPct val="114000"/>
              </a:lnSpc>
              <a:spcBef>
                <a:spcPts val="0"/>
              </a:spcBef>
              <a:spcAft>
                <a:spcPts val="100"/>
              </a:spcAft>
            </a:pPr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5857D3F-C73C-4258-AD84-64325B73A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4" name="날짜 개체 틀 13">
            <a:extLst>
              <a:ext uri="{FF2B5EF4-FFF2-40B4-BE49-F238E27FC236}">
                <a16:creationId xmlns:a16="http://schemas.microsoft.com/office/drawing/2014/main" id="{3B0D25F8-7F7C-439C-87F0-FDE2608F10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064D5E-0F9E-405F-9B71-9D6829D89719}" type="datetime1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2C7A6C2F-BAA4-4279-8F17-3F41F481F2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CDC71722-29D6-439F-840C-9760D4CF3B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72BA05-FDE1-4DA9-878E-33870FA39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67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ED5B8-9358-4449-8AB9-81579A1A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469" y="2565992"/>
            <a:ext cx="9438531" cy="1726016"/>
          </a:xfrm>
        </p:spPr>
        <p:txBody>
          <a:bodyPr>
            <a:noAutofit/>
          </a:bodyPr>
          <a:lstStyle>
            <a:lvl1pPr algn="ctr">
              <a:defRPr sz="4400"/>
            </a:lvl1pPr>
          </a:lstStyle>
          <a:p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2C1E99A8-06D2-4392-A48C-CA602123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C7CE-4EF7-46A7-824B-8851FDE232EE}" type="datetime1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C5DE3435-EF3D-4D05-8CCD-2DE227CA3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8B81DA0F-E160-4EDE-9D2A-A0CD9377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2BA05-FDE1-4DA9-878E-33870FA39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886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od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91A10170-0CF4-C6AB-C38A-AA97B86E0F0C}"/>
              </a:ext>
            </a:extLst>
          </p:cNvPr>
          <p:cNvSpPr txBox="1"/>
          <p:nvPr userDrawn="1"/>
        </p:nvSpPr>
        <p:spPr>
          <a:xfrm>
            <a:off x="233469" y="6496050"/>
            <a:ext cx="720000" cy="360000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+mn-lt" charset="0"/>
                <a:ea typeface="Slate Pro Light" charset="0"/>
                <a:cs typeface="Slate Pro Light" charset="0"/>
              </a:defRPr>
            </a:lvl1pPr>
          </a:lstStyle>
          <a:p>
            <a:pPr lvl="0" algn="l">
              <a:lnSpc>
                <a:spcPct val="100000"/>
              </a:lnSpc>
            </a:pPr>
            <a:fld id="{DA68CEF4-E06B-2F45-9C1B-34EEEC442DB9}" type="slidenum">
              <a:rPr lang="en-US" sz="1200" b="0" i="0" smtClean="0">
                <a:solidFill>
                  <a:schemeClr val="accent6"/>
                </a:solidFill>
                <a:latin typeface="HD현대체  Light" panose="02090600000101010101" pitchFamily="18" charset="-127"/>
                <a:ea typeface="HD현대체  Light" panose="02090600000101010101" pitchFamily="18" charset="-127"/>
                <a:cs typeface="Noto Sans" panose="020B0502040504020204" pitchFamily="34" charset="0"/>
              </a:rPr>
              <a:pPr lvl="0" algn="l">
                <a:lnSpc>
                  <a:spcPct val="100000"/>
                </a:lnSpc>
              </a:pPr>
              <a:t>‹#›</a:t>
            </a:fld>
            <a:endParaRPr lang="en-US" sz="1200" b="0" i="0" dirty="0">
              <a:solidFill>
                <a:schemeClr val="accent6"/>
              </a:solidFill>
              <a:latin typeface="HD현대체  Light" panose="02090600000101010101" pitchFamily="18" charset="-127"/>
              <a:ea typeface="HD현대체  Light" panose="02090600000101010101" pitchFamily="18" charset="-127"/>
              <a:cs typeface="Noto Sans" panose="020B0502040504020204" pitchFamily="34" charset="0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000" y="234000"/>
            <a:ext cx="7200000" cy="54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accent4"/>
                </a:solidFill>
                <a:latin typeface="HD현대체 Bold" panose="020B0600000101010101" pitchFamily="50" charset="-127"/>
                <a:ea typeface="HD현대체 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33469" y="806507"/>
            <a:ext cx="9432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>
            <a:off x="234000" y="6486525"/>
            <a:ext cx="9432925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415925" y="904398"/>
            <a:ext cx="9000000" cy="792000"/>
          </a:xfrm>
          <a:prstGeom prst="rect">
            <a:avLst/>
          </a:prstGeom>
        </p:spPr>
        <p:txBody>
          <a:bodyPr lIns="72000" tIns="36000" rIns="72000" bIns="36000"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"/>
              </a:spcAft>
              <a:buNone/>
              <a:defRPr sz="1800" b="1">
                <a:solidFill>
                  <a:schemeClr val="accent4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244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1EA78E34-262C-4917-818A-97D165B10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926" y="904398"/>
            <a:ext cx="8809038" cy="5272565"/>
          </a:xfrm>
          <a:prstGeom prst="rect">
            <a:avLst/>
          </a:prstGeom>
        </p:spPr>
        <p:txBody>
          <a:bodyPr lIns="72000" tIns="36000" rIns="72000" bIns="36000"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6" name="제목 개체 틀 15">
            <a:extLst>
              <a:ext uri="{FF2B5EF4-FFF2-40B4-BE49-F238E27FC236}">
                <a16:creationId xmlns:a16="http://schemas.microsoft.com/office/drawing/2014/main" id="{D909F366-3198-414E-B49A-71D30AB1B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469" y="233999"/>
            <a:ext cx="8543925" cy="54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FF3B61A-65DB-4662-8C6F-0348FC1698B7}"/>
              </a:ext>
            </a:extLst>
          </p:cNvPr>
          <p:cNvCxnSpPr/>
          <p:nvPr userDrawn="1"/>
        </p:nvCxnSpPr>
        <p:spPr>
          <a:xfrm>
            <a:off x="233469" y="806507"/>
            <a:ext cx="9432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3114E1B-DC8F-4204-AFBA-C99891AB1716}"/>
              </a:ext>
            </a:extLst>
          </p:cNvPr>
          <p:cNvCxnSpPr/>
          <p:nvPr userDrawn="1"/>
        </p:nvCxnSpPr>
        <p:spPr>
          <a:xfrm>
            <a:off x="234000" y="6486525"/>
            <a:ext cx="9432925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AD072990-9C0B-4F1C-B81B-D1628F59D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43150" y="6529054"/>
            <a:ext cx="1730158" cy="304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2BA05-FDE1-4DA9-878E-33870FA398E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5F8A0C4F-95FF-4BB7-B299-7515F5F93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4001" y="6529054"/>
            <a:ext cx="2228850" cy="304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32BCF-88C1-418E-9FC6-E46A44097B33}" type="datetime1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13" name="바닥글 개체 틀 4">
            <a:extLst>
              <a:ext uri="{FF2B5EF4-FFF2-40B4-BE49-F238E27FC236}">
                <a16:creationId xmlns:a16="http://schemas.microsoft.com/office/drawing/2014/main" id="{C9592341-6DA3-4C83-9EC2-7260E1701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37673" y="6529054"/>
            <a:ext cx="723015" cy="304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23C1C4-C37E-4D4F-88ED-1B7C3302D0BB}"/>
              </a:ext>
            </a:extLst>
          </p:cNvPr>
          <p:cNvSpPr/>
          <p:nvPr userDrawn="1"/>
        </p:nvSpPr>
        <p:spPr>
          <a:xfrm>
            <a:off x="8066566" y="233999"/>
            <a:ext cx="1605433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effectLst>
                  <a:glow rad="38100">
                    <a:schemeClr val="bg1"/>
                  </a:glow>
                </a:effectLst>
                <a:latin typeface="+mj-ea"/>
                <a:ea typeface="+mj-ea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63461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</p:sldLayoutIdLst>
  <p:hf hd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lang="ko-KR" altLang="en-US" sz="2400" b="0" i="0" kern="1200" dirty="0" smtClean="0">
          <a:solidFill>
            <a:schemeClr val="accent4"/>
          </a:solidFill>
          <a:latin typeface="HD현대체 Bold" panose="020B0600000101010101" pitchFamily="50" charset="-127"/>
          <a:ea typeface="HD현대체 Bold" panose="020B0600000101010101" pitchFamily="50" charset="-127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100000"/>
        </a:lnSpc>
        <a:spcBef>
          <a:spcPts val="813"/>
        </a:spcBef>
        <a:buFont typeface="Arial" panose="020B0604020202020204" pitchFamily="34" charset="0"/>
        <a:buChar char="•"/>
        <a:defRPr lang="ko-KR" altLang="en-US" sz="1800" b="1" i="0" kern="1200" dirty="0" smtClean="0">
          <a:solidFill>
            <a:schemeClr val="accent4"/>
          </a:solidFill>
          <a:latin typeface="HD현대체  Medium" panose="02090600000101010101" pitchFamily="18" charset="-127"/>
          <a:ea typeface="HD현대체  Medium" panose="02090600000101010101" pitchFamily="18" charset="-127"/>
          <a:cs typeface="+mn-cs"/>
        </a:defRPr>
      </a:lvl1pPr>
      <a:lvl2pPr marL="557213" indent="-185738" algn="l" defTabSz="742950" rtl="0" eaLnBrk="1" latinLnBrk="0" hangingPunct="1">
        <a:lnSpc>
          <a:spcPct val="100000"/>
        </a:lnSpc>
        <a:spcBef>
          <a:spcPts val="406"/>
        </a:spcBef>
        <a:buFont typeface="Wingdings" panose="05000000000000000000" pitchFamily="2" charset="2"/>
        <a:buChar char="§"/>
        <a:defRPr lang="ko-KR" altLang="en-US" sz="1600" b="0" i="0" kern="1200" dirty="0" smtClean="0">
          <a:solidFill>
            <a:schemeClr val="accent6"/>
          </a:solidFill>
          <a:latin typeface="Noto Sans Light" panose="020B0402040504020204" pitchFamily="34" charset="0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100000"/>
        </a:lnSpc>
        <a:spcBef>
          <a:spcPts val="406"/>
        </a:spcBef>
        <a:buFont typeface="Arial" panose="020B0604020202020204" pitchFamily="34" charset="0"/>
        <a:buChar char="•"/>
        <a:defRPr lang="ko-KR" altLang="en-US" sz="1600" b="0" i="0" kern="1200" dirty="0" smtClean="0">
          <a:solidFill>
            <a:schemeClr val="accent6"/>
          </a:solidFill>
          <a:latin typeface="Noto Sans Light" panose="020B0402040504020204" pitchFamily="34" charset="0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100000"/>
        </a:lnSpc>
        <a:spcBef>
          <a:spcPts val="406"/>
        </a:spcBef>
        <a:buFontTx/>
        <a:buChar char="‒"/>
        <a:defRPr lang="ko-KR" altLang="en-US" sz="1600" b="0" i="0" kern="1200" dirty="0" smtClean="0">
          <a:solidFill>
            <a:schemeClr val="accent6"/>
          </a:solidFill>
          <a:latin typeface="Noto Sans Light" panose="020B0402040504020204" pitchFamily="34" charset="0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100000"/>
        </a:lnSpc>
        <a:spcBef>
          <a:spcPts val="406"/>
        </a:spcBef>
        <a:buFontTx/>
        <a:buChar char="◦"/>
        <a:defRPr lang="ko-KR" altLang="en-US" sz="1600" b="0" i="0" kern="1200" dirty="0" smtClean="0">
          <a:solidFill>
            <a:schemeClr val="accent6"/>
          </a:solidFill>
          <a:latin typeface="Noto Sans Light" panose="020B0402040504020204" pitchFamily="34" charset="0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49">
          <p15:clr>
            <a:srgbClr val="F26B43"/>
          </p15:clr>
        </p15:guide>
        <p15:guide id="3" pos="6091">
          <p15:clr>
            <a:srgbClr val="F26B43"/>
          </p15:clr>
        </p15:guide>
        <p15:guide id="5" pos="5978">
          <p15:clr>
            <a:srgbClr val="F26B43"/>
          </p15:clr>
        </p15:guide>
        <p15:guide id="7" orient="horz" pos="4088">
          <p15:clr>
            <a:srgbClr val="F26B43"/>
          </p15:clr>
        </p15:guide>
        <p15:guide id="9" orient="horz" pos="890">
          <p15:clr>
            <a:srgbClr val="F26B43"/>
          </p15:clr>
        </p15:guide>
        <p15:guide id="10" orient="horz" pos="3974">
          <p15:clr>
            <a:srgbClr val="F26B43"/>
          </p15:clr>
        </p15:guide>
        <p15:guide id="11" pos="3120">
          <p15:clr>
            <a:srgbClr val="F26B43"/>
          </p15:clr>
        </p15:guide>
        <p15:guide id="13" pos="3256">
          <p15:clr>
            <a:srgbClr val="F26B43"/>
          </p15:clr>
        </p15:guide>
        <p15:guide id="15" pos="4617">
          <p15:clr>
            <a:srgbClr val="F26B43"/>
          </p15:clr>
        </p15:guide>
        <p15:guide id="17" orient="horz" pos="504">
          <p15:clr>
            <a:srgbClr val="F26B43"/>
          </p15:clr>
        </p15:guide>
        <p15:guide id="18" pos="1623">
          <p15:clr>
            <a:srgbClr val="F26B43"/>
          </p15:clr>
        </p15:guide>
        <p15:guide id="19" pos="2984">
          <p15:clr>
            <a:srgbClr val="F26B43"/>
          </p15:clr>
        </p15:guide>
        <p15:guide id="20" pos="262">
          <p15:clr>
            <a:srgbClr val="F26B43"/>
          </p15:clr>
        </p15:guide>
        <p15:guide id="22" orient="horz" pos="1071">
          <p15:clr>
            <a:srgbClr val="F26B43"/>
          </p15:clr>
        </p15:guide>
        <p15:guide id="24" orient="horz" pos="142">
          <p15:clr>
            <a:srgbClr val="F26B43"/>
          </p15:clr>
        </p15:guide>
        <p15:guide id="25" orient="horz" pos="7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3B056-DDC2-6642-53A9-82787E355C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999" y="2520000"/>
            <a:ext cx="7560276" cy="1260000"/>
          </a:xfrm>
          <a:prstGeom prst="rect">
            <a:avLst/>
          </a:prstGeom>
        </p:spPr>
        <p:txBody>
          <a:bodyPr anchor="ctr"/>
          <a:lstStyle/>
          <a:p>
            <a:r>
              <a:rPr lang="en-US" altLang="ko-KR" sz="2400" b="0" dirty="0"/>
              <a:t>[</a:t>
            </a:r>
            <a:r>
              <a:rPr lang="ko-KR" altLang="en-US" sz="2400" b="0" dirty="0"/>
              <a:t>업무협조전</a:t>
            </a:r>
            <a:r>
              <a:rPr lang="en-US" altLang="ko-KR" sz="2400" b="0" dirty="0"/>
              <a:t>]</a:t>
            </a:r>
          </a:p>
          <a:p>
            <a:r>
              <a:rPr lang="en-US" altLang="ko-KR" sz="3200" b="0" dirty="0"/>
              <a:t>MOCS </a:t>
            </a:r>
            <a:r>
              <a:rPr lang="ko-KR" altLang="en-US" sz="3200" b="0" dirty="0"/>
              <a:t>운전기록 확인 기능 개발 결과</a:t>
            </a:r>
            <a:endParaRPr lang="en-US" altLang="ko-KR" sz="2400" b="0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8C7EA3C0-2A4B-4B46-A5D1-5EA7F7C85CBD}"/>
              </a:ext>
            </a:extLst>
          </p:cNvPr>
          <p:cNvSpPr txBox="1">
            <a:spLocks/>
          </p:cNvSpPr>
          <p:nvPr/>
        </p:nvSpPr>
        <p:spPr>
          <a:xfrm>
            <a:off x="432000" y="4680000"/>
            <a:ext cx="6601260" cy="540000"/>
          </a:xfrm>
          <a:prstGeom prst="rect">
            <a:avLst/>
          </a:prstGeom>
        </p:spPr>
        <p:txBody>
          <a:bodyPr vert="horz" lIns="108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accent4"/>
                </a:solidFill>
                <a:latin typeface="HD현대체  Medium" panose="020B0600000101010101" pitchFamily="50" charset="-127"/>
                <a:ea typeface="HD현대체  Medium" panose="020B0600000101010101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2026.01.29</a:t>
            </a:r>
          </a:p>
          <a:p>
            <a:r>
              <a:rPr lang="ko-KR" altLang="en-US" b="1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강혜현 책임연구원</a:t>
            </a:r>
            <a:endParaRPr lang="en-US" altLang="ko-KR" b="1" dirty="0"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  <a:p>
            <a:r>
              <a:rPr lang="en-US" altLang="ko-KR" b="1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HD</a:t>
            </a:r>
            <a:r>
              <a:rPr lang="ko-KR" altLang="en-US" b="1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현대중공업 엔진기계사업부 지능제어시스템연구실</a:t>
            </a:r>
            <a:endParaRPr lang="en-US" altLang="ko-KR" b="1" dirty="0"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4929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9873D6-C4C8-456E-B3E7-364BB35DAAA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개발 배경</a:t>
            </a:r>
            <a:endParaRPr lang="en-US" altLang="ko-KR" dirty="0"/>
          </a:p>
          <a:p>
            <a:pPr lvl="1"/>
            <a:r>
              <a:rPr lang="en-US" altLang="ko-KR" dirty="0"/>
              <a:t>MOCS </a:t>
            </a:r>
            <a:r>
              <a:rPr lang="ko-KR" altLang="en-US" dirty="0"/>
              <a:t>운전 기록 정보 제공을 통한 사용자 편의성 향상</a:t>
            </a:r>
            <a:endParaRPr lang="en-US" altLang="ko-KR" dirty="0"/>
          </a:p>
          <a:p>
            <a:pPr lvl="2"/>
            <a:r>
              <a:rPr lang="ko-KR" altLang="en-US" dirty="0"/>
              <a:t>제어기 재부팅 및 </a:t>
            </a:r>
            <a:r>
              <a:rPr lang="en-US" altLang="ko-KR" dirty="0"/>
              <a:t>Update </a:t>
            </a:r>
            <a:r>
              <a:rPr lang="ko-KR" altLang="en-US" dirty="0"/>
              <a:t>시 과거 운전 기록 유지하여 </a:t>
            </a:r>
            <a:r>
              <a:rPr lang="en-US" altLang="ko-KR" dirty="0"/>
              <a:t>SW </a:t>
            </a:r>
            <a:r>
              <a:rPr lang="ko-KR" altLang="en-US" dirty="0"/>
              <a:t>유지 보수 편의성 향상</a:t>
            </a:r>
            <a:endParaRPr lang="en-US" altLang="ko-KR" dirty="0"/>
          </a:p>
          <a:p>
            <a:pPr lvl="2"/>
            <a:r>
              <a:rPr lang="en-US" altLang="ko-KR" dirty="0"/>
              <a:t>S-trap Lifetime </a:t>
            </a:r>
            <a:r>
              <a:rPr lang="ko-KR" altLang="en-US" dirty="0"/>
              <a:t>계산 및 시각화를 통해 </a:t>
            </a:r>
            <a:r>
              <a:rPr lang="en-US" altLang="ko-KR" dirty="0"/>
              <a:t>S-trap </a:t>
            </a:r>
            <a:r>
              <a:rPr lang="ko-KR" altLang="en-US" dirty="0"/>
              <a:t>교환 시점에 대한 정보를 제공</a:t>
            </a:r>
            <a:endParaRPr lang="en-US" altLang="ko-KR" dirty="0"/>
          </a:p>
          <a:p>
            <a:r>
              <a:rPr lang="ko-KR" altLang="en-US" dirty="0"/>
              <a:t>진행 현황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1050" dirty="0"/>
          </a:p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요약</a:t>
            </a:r>
            <a:endParaRPr lang="en-US" altLang="ko-KR" dirty="0"/>
          </a:p>
          <a:p>
            <a:pPr lvl="1"/>
            <a:r>
              <a:rPr lang="ko-KR" altLang="en-US" dirty="0"/>
              <a:t>제어기 재부팅 및 </a:t>
            </a:r>
            <a:r>
              <a:rPr lang="en-US" altLang="ko-KR" dirty="0"/>
              <a:t>Update </a:t>
            </a:r>
            <a:r>
              <a:rPr lang="ko-KR" altLang="en-US" dirty="0"/>
              <a:t>시 과거 운전 기록 유지</a:t>
            </a:r>
            <a:r>
              <a:rPr lang="en-US" altLang="ko-KR" dirty="0"/>
              <a:t> </a:t>
            </a:r>
            <a:r>
              <a:rPr lang="ko-KR" altLang="en-US" dirty="0"/>
              <a:t>기능 개발</a:t>
            </a:r>
            <a:endParaRPr lang="en-US" altLang="ko-KR" dirty="0"/>
          </a:p>
          <a:p>
            <a:pPr lvl="2"/>
            <a:r>
              <a:rPr lang="en-US" altLang="ko-KR" dirty="0"/>
              <a:t>MOCS Operating Time, S-trap Lifetime, F.O. Supply Pump Operating Time </a:t>
            </a:r>
            <a:r>
              <a:rPr lang="ko-KR" altLang="en-US" dirty="0"/>
              <a:t>운전 기록 </a:t>
            </a:r>
            <a:r>
              <a:rPr lang="en-US" altLang="ko-KR" dirty="0"/>
              <a:t>Recipe File</a:t>
            </a:r>
            <a:r>
              <a:rPr lang="ko-KR" altLang="en-US" dirty="0"/>
              <a:t>에 저장</a:t>
            </a:r>
            <a:endParaRPr lang="en-US" altLang="ko-KR" dirty="0"/>
          </a:p>
          <a:p>
            <a:pPr lvl="2"/>
            <a:r>
              <a:rPr lang="ko-KR" altLang="en-US" dirty="0"/>
              <a:t>제어기 </a:t>
            </a:r>
            <a:r>
              <a:rPr lang="ko-KR" altLang="en-US" dirty="0" err="1"/>
              <a:t>구동시</a:t>
            </a:r>
            <a:r>
              <a:rPr lang="ko-KR" altLang="en-US" dirty="0"/>
              <a:t> 운전 기록 불러오기</a:t>
            </a:r>
            <a:endParaRPr lang="en-US" altLang="ko-KR" dirty="0"/>
          </a:p>
          <a:p>
            <a:pPr lvl="1"/>
            <a:r>
              <a:rPr lang="en-US" altLang="ko-KR" dirty="0"/>
              <a:t>S-trap Lifetime </a:t>
            </a:r>
            <a:r>
              <a:rPr lang="ko-KR" altLang="en-US" dirty="0"/>
              <a:t>계산 및 시각화 정보 제공</a:t>
            </a:r>
            <a:endParaRPr lang="en-US" altLang="ko-KR" dirty="0"/>
          </a:p>
          <a:p>
            <a:pPr lvl="2"/>
            <a:r>
              <a:rPr lang="en-US" altLang="ko-KR" dirty="0"/>
              <a:t>S-trap </a:t>
            </a:r>
            <a:r>
              <a:rPr lang="ko-KR" altLang="en-US" dirty="0"/>
              <a:t>누적</a:t>
            </a:r>
            <a:r>
              <a:rPr lang="en-US" altLang="ko-KR" dirty="0"/>
              <a:t> </a:t>
            </a:r>
            <a:r>
              <a:rPr lang="ko-KR" altLang="en-US" dirty="0"/>
              <a:t>사용 수명 </a:t>
            </a:r>
            <a:r>
              <a:rPr lang="en-US" altLang="ko-KR" dirty="0"/>
              <a:t>Factor</a:t>
            </a:r>
            <a:r>
              <a:rPr lang="ko-KR" altLang="en-US" dirty="0"/>
              <a:t>를 계산하여 </a:t>
            </a:r>
            <a:r>
              <a:rPr lang="en-US" altLang="ko-KR" dirty="0"/>
              <a:t>S-trap </a:t>
            </a:r>
            <a:r>
              <a:rPr lang="ko-KR" altLang="en-US" dirty="0"/>
              <a:t>기대</a:t>
            </a:r>
            <a:r>
              <a:rPr lang="en-US" altLang="ko-KR" dirty="0"/>
              <a:t> </a:t>
            </a:r>
            <a:r>
              <a:rPr lang="ko-KR" altLang="en-US" dirty="0"/>
              <a:t>수명 </a:t>
            </a:r>
            <a:r>
              <a:rPr lang="en-US" altLang="ko-KR" dirty="0"/>
              <a:t>Factor</a:t>
            </a:r>
            <a:r>
              <a:rPr lang="ko-KR" altLang="en-US" dirty="0"/>
              <a:t>와 비교를 통한 잔여 수명</a:t>
            </a:r>
            <a:r>
              <a:rPr lang="en-US" altLang="ko-KR" dirty="0"/>
              <a:t>(%) </a:t>
            </a:r>
            <a:r>
              <a:rPr lang="ko-KR" altLang="en-US" dirty="0"/>
              <a:t>계산</a:t>
            </a:r>
            <a:endParaRPr lang="en-US" altLang="ko-KR" dirty="0"/>
          </a:p>
          <a:p>
            <a:pPr lvl="2"/>
            <a:r>
              <a:rPr lang="en-US" altLang="ko-KR" dirty="0"/>
              <a:t>Progress bar </a:t>
            </a:r>
            <a:r>
              <a:rPr lang="ko-KR" altLang="en-US" dirty="0"/>
              <a:t>및 색 변경을 통한 </a:t>
            </a:r>
            <a:r>
              <a:rPr lang="en-US" altLang="ko-KR" dirty="0"/>
              <a:t>S-trap </a:t>
            </a:r>
            <a:r>
              <a:rPr lang="ko-KR" altLang="en-US" dirty="0"/>
              <a:t>잔여 수명 시각화 및 교환 시점 정보 제공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4693D45-CA51-4EEA-BF8F-857669B5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</a:t>
            </a: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9C25914D-370A-4DBE-93DB-4EBAF4D0F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424106"/>
              </p:ext>
            </p:extLst>
          </p:nvPr>
        </p:nvGraphicFramePr>
        <p:xfrm>
          <a:off x="809247" y="2549077"/>
          <a:ext cx="8586036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6509">
                  <a:extLst>
                    <a:ext uri="{9D8B030D-6E8A-4147-A177-3AD203B41FA5}">
                      <a16:colId xmlns:a16="http://schemas.microsoft.com/office/drawing/2014/main" val="2085094547"/>
                    </a:ext>
                  </a:extLst>
                </a:gridCol>
                <a:gridCol w="2146509">
                  <a:extLst>
                    <a:ext uri="{9D8B030D-6E8A-4147-A177-3AD203B41FA5}">
                      <a16:colId xmlns:a16="http://schemas.microsoft.com/office/drawing/2014/main" val="966343907"/>
                    </a:ext>
                  </a:extLst>
                </a:gridCol>
                <a:gridCol w="2146509">
                  <a:extLst>
                    <a:ext uri="{9D8B030D-6E8A-4147-A177-3AD203B41FA5}">
                      <a16:colId xmlns:a16="http://schemas.microsoft.com/office/drawing/2014/main" val="2835327744"/>
                    </a:ext>
                  </a:extLst>
                </a:gridCol>
                <a:gridCol w="2146509">
                  <a:extLst>
                    <a:ext uri="{9D8B030D-6E8A-4147-A177-3AD203B41FA5}">
                      <a16:colId xmlns:a16="http://schemas.microsoft.com/office/drawing/2014/main" val="304987009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+mj-lt"/>
                        </a:rPr>
                        <a:t>2025.10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+mj-lt"/>
                        </a:rPr>
                        <a:t>2026.01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+mj-lt"/>
                        </a:rPr>
                        <a:t>2026.03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+mj-lt"/>
                        </a:rPr>
                        <a:t>2026.06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695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HD현대체  Medium" panose="02090600000101010101" pitchFamily="18" charset="-127"/>
                          <a:ea typeface="HD현대체  Medium" panose="02090600000101010101" pitchFamily="18" charset="-127"/>
                        </a:rPr>
                        <a:t>S 0.1% MOCS</a:t>
                      </a:r>
                    </a:p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HD현대체  Medium" panose="02090600000101010101" pitchFamily="18" charset="-127"/>
                          <a:ea typeface="HD현대체  Medium" panose="02090600000101010101" pitchFamily="18" charset="-127"/>
                        </a:rPr>
                        <a:t>엔진연계시험</a:t>
                      </a:r>
                    </a:p>
                  </a:txBody>
                  <a:tcPr marL="45720" marR="4572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HD현대체  Medium" panose="02090600000101010101" pitchFamily="18" charset="-127"/>
                          <a:ea typeface="HD현대체  Medium" panose="02090600000101010101" pitchFamily="18" charset="-127"/>
                        </a:rPr>
                        <a:t>MOCS </a:t>
                      </a:r>
                      <a:r>
                        <a:rPr lang="ko-KR" altLang="en-US" sz="1100" dirty="0">
                          <a:latin typeface="HD현대체  Medium" panose="02090600000101010101" pitchFamily="18" charset="-127"/>
                          <a:ea typeface="HD현대체  Medium" panose="02090600000101010101" pitchFamily="18" charset="-127"/>
                        </a:rPr>
                        <a:t>제어시스템 추가 개발항목 도출 및 개선 진행</a:t>
                      </a:r>
                    </a:p>
                  </a:txBody>
                  <a:tcPr marL="45720" marR="4572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HD현대체  Medium" panose="02090600000101010101" pitchFamily="18" charset="-127"/>
                          <a:ea typeface="HD현대체  Medium" panose="02090600000101010101" pitchFamily="18" charset="-127"/>
                        </a:rPr>
                        <a:t>S 0.1% MOCS</a:t>
                      </a:r>
                    </a:p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HD현대체  Medium" panose="02090600000101010101" pitchFamily="18" charset="-127"/>
                          <a:ea typeface="HD현대체  Medium" panose="02090600000101010101" pitchFamily="18" charset="-127"/>
                        </a:rPr>
                        <a:t>추가 엔진연계시험</a:t>
                      </a:r>
                    </a:p>
                  </a:txBody>
                  <a:tcPr marL="45720" marR="4572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HD현대체  Medium" panose="02090600000101010101" pitchFamily="18" charset="-127"/>
                          <a:ea typeface="HD현대체  Medium" panose="02090600000101010101" pitchFamily="18" charset="-127"/>
                        </a:rPr>
                        <a:t>양산 </a:t>
                      </a:r>
                      <a:r>
                        <a:rPr lang="en-US" altLang="ko-KR" sz="1100" dirty="0">
                          <a:latin typeface="HD현대체  Medium" panose="02090600000101010101" pitchFamily="18" charset="-127"/>
                          <a:ea typeface="HD현대체  Medium" panose="02090600000101010101" pitchFamily="18" charset="-127"/>
                        </a:rPr>
                        <a:t>MOCS </a:t>
                      </a:r>
                      <a:r>
                        <a:rPr lang="ko-KR" altLang="en-US" sz="1100" dirty="0">
                          <a:latin typeface="HD현대체  Medium" panose="02090600000101010101" pitchFamily="18" charset="-127"/>
                          <a:ea typeface="HD현대체  Medium" panose="02090600000101010101" pitchFamily="18" charset="-127"/>
                        </a:rPr>
                        <a:t>제어시스템 개발 및 검증</a:t>
                      </a:r>
                    </a:p>
                  </a:txBody>
                  <a:tcPr marL="45720" marR="45720"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51663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BCA85E3-317C-4063-A160-9D35DA47B2B5}"/>
              </a:ext>
            </a:extLst>
          </p:cNvPr>
          <p:cNvSpPr txBox="1"/>
          <p:nvPr/>
        </p:nvSpPr>
        <p:spPr>
          <a:xfrm>
            <a:off x="3535551" y="2518745"/>
            <a:ext cx="749595" cy="248093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★현재시점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AF4DAF8-D572-4E0A-BAA5-91B77417B6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443150" y="6529054"/>
            <a:ext cx="1730158" cy="304134"/>
          </a:xfrm>
        </p:spPr>
        <p:txBody>
          <a:bodyPr/>
          <a:lstStyle/>
          <a:p>
            <a:fld id="{F572BA05-FDE1-4DA9-878E-33870FA398E3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6" name="바닥글 개체 틀 15">
            <a:extLst>
              <a:ext uri="{FF2B5EF4-FFF2-40B4-BE49-F238E27FC236}">
                <a16:creationId xmlns:a16="http://schemas.microsoft.com/office/drawing/2014/main" id="{EDD742D7-C9EB-454A-BD87-BA98DA64C1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502B4C-EDE6-4F68-AD68-019309B36A03}"/>
              </a:ext>
            </a:extLst>
          </p:cNvPr>
          <p:cNvSpPr/>
          <p:nvPr/>
        </p:nvSpPr>
        <p:spPr>
          <a:xfrm>
            <a:off x="415926" y="5953602"/>
            <a:ext cx="7610237" cy="540001"/>
          </a:xfrm>
          <a:prstGeom prst="rect">
            <a:avLst/>
          </a:prstGeom>
        </p:spPr>
        <p:txBody>
          <a:bodyPr wrap="square" numCol="2">
            <a:noAutofit/>
          </a:bodyPr>
          <a:lstStyle/>
          <a:p>
            <a:r>
              <a:rPr lang="en-US" altLang="ko-KR" sz="900" dirty="0">
                <a:solidFill>
                  <a:schemeClr val="dk1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*MOCS: Methane Oxidation Catalyst System</a:t>
            </a:r>
          </a:p>
          <a:p>
            <a:r>
              <a:rPr lang="en-US" altLang="ko-KR" sz="900" dirty="0">
                <a:solidFill>
                  <a:schemeClr val="dk1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*TVT:</a:t>
            </a:r>
            <a:r>
              <a:rPr lang="ko-KR" altLang="en-US" sz="900" dirty="0">
                <a:solidFill>
                  <a:schemeClr val="dk1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 </a:t>
            </a:r>
            <a:r>
              <a:rPr lang="en-US" altLang="ko-KR" sz="900" dirty="0">
                <a:solidFill>
                  <a:schemeClr val="dk1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Triple Valve Timing</a:t>
            </a:r>
          </a:p>
          <a:p>
            <a:r>
              <a:rPr lang="en-US" altLang="ko-KR" sz="900" dirty="0">
                <a:solidFill>
                  <a:schemeClr val="dk1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*S-trap: Sulfur trap</a:t>
            </a:r>
          </a:p>
          <a:p>
            <a:r>
              <a:rPr lang="en-US" altLang="ko-KR" sz="900" dirty="0">
                <a:solidFill>
                  <a:schemeClr val="dk1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* DOC: Diesel Oxidation Catalyst</a:t>
            </a:r>
          </a:p>
          <a:p>
            <a:r>
              <a:rPr lang="en-US" altLang="ko-KR" sz="900" dirty="0">
                <a:solidFill>
                  <a:schemeClr val="dk1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*TMB: Transient MOCS Bypass, </a:t>
            </a:r>
            <a:r>
              <a:rPr lang="ko-KR" altLang="en-US" sz="900" dirty="0">
                <a:solidFill>
                  <a:schemeClr val="dk1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촉매 보호를 위한 </a:t>
            </a:r>
            <a:r>
              <a:rPr lang="en-US" altLang="ko-KR" sz="900" dirty="0">
                <a:solidFill>
                  <a:schemeClr val="dk1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Bypass </a:t>
            </a:r>
            <a:r>
              <a:rPr lang="ko-KR" altLang="en-US" sz="900" dirty="0">
                <a:solidFill>
                  <a:schemeClr val="dk1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기능</a:t>
            </a:r>
            <a:endParaRPr lang="en-US" altLang="ko-KR" sz="900" dirty="0">
              <a:solidFill>
                <a:schemeClr val="dk1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  <a:p>
            <a:r>
              <a:rPr lang="en-US" altLang="ko-KR" sz="900" dirty="0">
                <a:solidFill>
                  <a:schemeClr val="dk1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*eHiLS: embedded Hardware in the Loop Simulator</a:t>
            </a:r>
            <a:endParaRPr lang="ko-KR" altLang="en-US" sz="900" dirty="0"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111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97AEC44-0C0A-4838-8638-CF8A6F68F6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5926" y="904398"/>
            <a:ext cx="4875030" cy="5272565"/>
          </a:xfrm>
        </p:spPr>
        <p:txBody>
          <a:bodyPr/>
          <a:lstStyle/>
          <a:p>
            <a:r>
              <a:rPr lang="en-US" altLang="ko-KR" sz="1600" dirty="0"/>
              <a:t>MOCS </a:t>
            </a:r>
            <a:r>
              <a:rPr lang="ko-KR" altLang="en-US" sz="1600" dirty="0"/>
              <a:t>소모품 교체 시점 정보를 전달하기 위한 운전 기록 </a:t>
            </a:r>
            <a:r>
              <a:rPr lang="en-US" altLang="ko-KR" sz="1600" dirty="0"/>
              <a:t>List</a:t>
            </a:r>
          </a:p>
          <a:p>
            <a:pPr lvl="1"/>
            <a:r>
              <a:rPr lang="en-US" altLang="ko-KR" sz="1400" dirty="0"/>
              <a:t>MOCS</a:t>
            </a:r>
            <a:r>
              <a:rPr lang="ko-KR" altLang="en-US" sz="1400" dirty="0"/>
              <a:t> </a:t>
            </a:r>
            <a:r>
              <a:rPr lang="en-US" altLang="ko-KR" sz="1400" dirty="0"/>
              <a:t>Total</a:t>
            </a:r>
            <a:r>
              <a:rPr lang="ko-KR" altLang="en-US" sz="1400" dirty="0"/>
              <a:t> </a:t>
            </a:r>
            <a:r>
              <a:rPr lang="en-US" altLang="ko-KR" sz="1400" dirty="0"/>
              <a:t>Operating</a:t>
            </a:r>
            <a:r>
              <a:rPr lang="ko-KR" altLang="en-US" sz="1400" dirty="0"/>
              <a:t> </a:t>
            </a:r>
            <a:r>
              <a:rPr lang="en-US" altLang="ko-KR" sz="1400" dirty="0"/>
              <a:t>Time</a:t>
            </a:r>
          </a:p>
          <a:p>
            <a:pPr lvl="1"/>
            <a:r>
              <a:rPr lang="en-US" altLang="ko-KR" sz="1400" dirty="0"/>
              <a:t>MOCS Operating Time(Resettable) </a:t>
            </a:r>
          </a:p>
          <a:p>
            <a:pPr lvl="1"/>
            <a:r>
              <a:rPr lang="en-US" altLang="ko-KR" sz="1400" dirty="0"/>
              <a:t>S-trap Lifetime(Resettable)</a:t>
            </a:r>
          </a:p>
          <a:p>
            <a:pPr lvl="1"/>
            <a:r>
              <a:rPr lang="en-US" altLang="ko-KR" sz="1400" dirty="0"/>
              <a:t>F.O. Supply Pump Total Operating Time</a:t>
            </a:r>
          </a:p>
          <a:p>
            <a:pPr lvl="1"/>
            <a:r>
              <a:rPr lang="en-US" altLang="ko-KR" sz="1400" dirty="0"/>
              <a:t>No.1 F.O. Supply Pump Operating Time(Resettable)</a:t>
            </a:r>
          </a:p>
          <a:p>
            <a:pPr lvl="1"/>
            <a:r>
              <a:rPr lang="en-US" altLang="ko-KR" sz="1400" dirty="0"/>
              <a:t>No.2 F.O. Supply Pump Operating Time(Resettable)</a:t>
            </a:r>
          </a:p>
          <a:p>
            <a:pPr lvl="1"/>
            <a:endParaRPr lang="en-US" altLang="ko-KR" sz="1400" dirty="0"/>
          </a:p>
          <a:p>
            <a:r>
              <a:rPr lang="en-US" altLang="ko-KR" sz="1600" dirty="0"/>
              <a:t>Recipe File</a:t>
            </a:r>
            <a:r>
              <a:rPr lang="ko-KR" altLang="en-US" sz="1600" dirty="0"/>
              <a:t>에 운전 기록 저장</a:t>
            </a:r>
            <a:endParaRPr lang="en-US" altLang="ko-KR" sz="1600" dirty="0"/>
          </a:p>
          <a:p>
            <a:pPr lvl="1"/>
            <a:r>
              <a:rPr lang="en-US" altLang="ko-KR" sz="1400" dirty="0"/>
              <a:t>Time Counter </a:t>
            </a:r>
            <a:r>
              <a:rPr lang="ko-KR" altLang="en-US" sz="1400" dirty="0"/>
              <a:t>동작하고</a:t>
            </a:r>
            <a:r>
              <a:rPr lang="en-US" altLang="ko-KR" sz="1400" dirty="0"/>
              <a:t> 1</a:t>
            </a:r>
            <a:r>
              <a:rPr lang="ko-KR" altLang="en-US" sz="1400" dirty="0"/>
              <a:t>분 마다 </a:t>
            </a:r>
            <a:r>
              <a:rPr lang="en-US" altLang="ko-KR" sz="1400" dirty="0"/>
              <a:t>Recipe</a:t>
            </a:r>
            <a:r>
              <a:rPr lang="ko-KR" altLang="en-US" sz="1400" dirty="0"/>
              <a:t>에 운전 기록 저장</a:t>
            </a:r>
            <a:endParaRPr lang="en-US" altLang="ko-KR" sz="1400" dirty="0"/>
          </a:p>
          <a:p>
            <a:pPr lvl="1"/>
            <a:r>
              <a:rPr lang="ko-KR" altLang="en-US" sz="1400" dirty="0"/>
              <a:t>제어기 구동 시 </a:t>
            </a:r>
            <a:r>
              <a:rPr lang="en-US" altLang="ko-KR" sz="1400" dirty="0"/>
              <a:t>Recipe File</a:t>
            </a:r>
            <a:r>
              <a:rPr lang="ko-KR" altLang="en-US" sz="1400" dirty="0"/>
              <a:t>에서 운전 기록 불러와서 시작</a:t>
            </a:r>
            <a:endParaRPr lang="en-US" altLang="ko-KR" sz="1400" dirty="0"/>
          </a:p>
          <a:p>
            <a:pPr lvl="1"/>
            <a:r>
              <a:rPr lang="ko-KR" altLang="en-US" sz="1400" dirty="0"/>
              <a:t>시간과 분 저장</a:t>
            </a:r>
            <a:r>
              <a:rPr lang="en-US" altLang="ko-KR" sz="1400" dirty="0"/>
              <a:t>, </a:t>
            </a:r>
            <a:r>
              <a:rPr lang="ko-KR" altLang="en-US" sz="1400" dirty="0"/>
              <a:t>초단위는 상실</a:t>
            </a:r>
          </a:p>
          <a:p>
            <a:pPr lvl="2"/>
            <a:r>
              <a:rPr lang="en-US" altLang="ko-KR" sz="1400" dirty="0"/>
              <a:t>Prototype SW </a:t>
            </a:r>
            <a:r>
              <a:rPr lang="ko-KR" altLang="en-US" sz="1400" dirty="0"/>
              <a:t>데이터 구조상 한계로 초 단위 저장이 필요하다면 양산에서 반영</a:t>
            </a:r>
          </a:p>
          <a:p>
            <a:pPr lvl="1"/>
            <a:r>
              <a:rPr lang="en-US" altLang="ko-KR" sz="1400" dirty="0"/>
              <a:t>MOCS </a:t>
            </a:r>
            <a:r>
              <a:rPr lang="ko-KR" altLang="en-US" sz="1400" dirty="0"/>
              <a:t>및 </a:t>
            </a:r>
            <a:r>
              <a:rPr lang="en-US" altLang="ko-KR" sz="1400" dirty="0"/>
              <a:t>S-trap Time count </a:t>
            </a:r>
            <a:r>
              <a:rPr lang="ko-KR" altLang="en-US" sz="1400" dirty="0"/>
              <a:t>기준</a:t>
            </a:r>
          </a:p>
          <a:p>
            <a:pPr lvl="2"/>
            <a:r>
              <a:rPr lang="en-US" altLang="ko-KR" sz="1400" dirty="0"/>
              <a:t>Engine Speed &gt; 30rpm</a:t>
            </a:r>
          </a:p>
          <a:p>
            <a:pPr lvl="2"/>
            <a:r>
              <a:rPr lang="en-US" altLang="ko-KR" sz="1400" dirty="0"/>
              <a:t>RSV open</a:t>
            </a:r>
          </a:p>
          <a:p>
            <a:pPr lvl="1"/>
            <a:endParaRPr lang="ko-KR" altLang="en-US" sz="14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B4DB8B3-BFDD-4BCD-927B-DEAD839F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MOCS </a:t>
            </a:r>
            <a:r>
              <a:rPr lang="ko-KR" altLang="en-US" dirty="0"/>
              <a:t>운전 기록 저장</a:t>
            </a:r>
            <a:r>
              <a:rPr lang="en-US" altLang="ko-KR" dirty="0"/>
              <a:t> </a:t>
            </a:r>
            <a:r>
              <a:rPr lang="ko-KR" altLang="en-US" dirty="0"/>
              <a:t>기능 개발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80631D-B181-45A6-BFB5-67228BD342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24C162-D36E-4A6A-82E9-EB6ED51A9E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72BA05-FDE1-4DA9-878E-33870FA398E3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6" name="내용 개체 틀 4">
            <a:extLst>
              <a:ext uri="{FF2B5EF4-FFF2-40B4-BE49-F238E27FC236}">
                <a16:creationId xmlns:a16="http://schemas.microsoft.com/office/drawing/2014/main" id="{AAB009F6-7E08-49C6-A499-9FF0F606D541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649" y="2906764"/>
            <a:ext cx="4658197" cy="34005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E8DB17-63A6-431D-B492-B496BDA6CDAA}"/>
              </a:ext>
            </a:extLst>
          </p:cNvPr>
          <p:cNvSpPr txBox="1"/>
          <p:nvPr/>
        </p:nvSpPr>
        <p:spPr>
          <a:xfrm>
            <a:off x="6524336" y="2537432"/>
            <a:ext cx="1837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rgbClr val="002060"/>
                </a:solidFill>
                <a:latin typeface="+mj-lt"/>
              </a:rPr>
              <a:t>&lt;Recipe File&gt;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58423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1846DD0A-52F2-4A39-8BF0-EA187C68256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sz="1600" dirty="0"/>
              <a:t>운전 기록 저장</a:t>
            </a:r>
            <a:r>
              <a:rPr lang="en-US" altLang="ko-KR" sz="1600" dirty="0"/>
              <a:t>/</a:t>
            </a:r>
            <a:r>
              <a:rPr lang="ko-KR" altLang="en-US" sz="1600" dirty="0"/>
              <a:t>불러오기 기능</a:t>
            </a:r>
            <a:r>
              <a:rPr lang="en-US" altLang="ko-KR" sz="1600" dirty="0"/>
              <a:t>, </a:t>
            </a:r>
            <a:r>
              <a:rPr lang="ko-KR" altLang="en-US" sz="1600" dirty="0"/>
              <a:t>운전기록 초기화 기능 정상 작동 확인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B6A43F-E524-4592-8E27-4CE2C6BF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MOCS </a:t>
            </a:r>
            <a:r>
              <a:rPr lang="ko-KR" altLang="en-US" dirty="0"/>
              <a:t>운전 기록 저장 및 초기화 기능 구현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8DA856-C97F-4712-8E69-5507DEEB0A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3DD9E9-4DF8-47AB-9C86-B739ED2E3F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72BA05-FDE1-4DA9-878E-33870FA398E3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2F4579B-0FF3-4F8D-BAC5-DFFEEE676D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844" t="7055" r="2269"/>
          <a:stretch/>
        </p:blipFill>
        <p:spPr>
          <a:xfrm>
            <a:off x="415926" y="1273481"/>
            <a:ext cx="4971201" cy="49034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F464C2-1523-4FDF-9A94-C8F60B430A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038" t="7144" r="3756"/>
          <a:stretch/>
        </p:blipFill>
        <p:spPr>
          <a:xfrm>
            <a:off x="5523465" y="1273481"/>
            <a:ext cx="4077050" cy="4803263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C1E201A-CA67-487A-9DB2-6CB228096EBB}"/>
              </a:ext>
            </a:extLst>
          </p:cNvPr>
          <p:cNvCxnSpPr>
            <a:cxnSpLocks/>
          </p:cNvCxnSpPr>
          <p:nvPr/>
        </p:nvCxnSpPr>
        <p:spPr>
          <a:xfrm>
            <a:off x="897622" y="1442906"/>
            <a:ext cx="0" cy="4806892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FDDD9C7-7850-4A46-85EA-FC1DD7E8031A}"/>
              </a:ext>
            </a:extLst>
          </p:cNvPr>
          <p:cNvSpPr txBox="1"/>
          <p:nvPr/>
        </p:nvSpPr>
        <p:spPr>
          <a:xfrm>
            <a:off x="251669" y="6189423"/>
            <a:ext cx="1291905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pPr algn="ctr"/>
            <a:r>
              <a:rPr lang="ko-KR" altLang="en-US" sz="1600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제어기 종료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0E789BB-D904-4090-A98A-99F586F72C48}"/>
              </a:ext>
            </a:extLst>
          </p:cNvPr>
          <p:cNvCxnSpPr>
            <a:cxnSpLocks/>
          </p:cNvCxnSpPr>
          <p:nvPr/>
        </p:nvCxnSpPr>
        <p:spPr>
          <a:xfrm>
            <a:off x="2516697" y="1442906"/>
            <a:ext cx="0" cy="4806892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8AA8397-6D99-4FA3-9D07-4A2CA71D9746}"/>
              </a:ext>
            </a:extLst>
          </p:cNvPr>
          <p:cNvSpPr txBox="1"/>
          <p:nvPr/>
        </p:nvSpPr>
        <p:spPr>
          <a:xfrm>
            <a:off x="1870744" y="6189423"/>
            <a:ext cx="1291905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pPr algn="ctr"/>
            <a:r>
              <a:rPr lang="ko-KR" altLang="en-US" sz="1600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제어기 </a:t>
            </a:r>
            <a:r>
              <a:rPr lang="ko-KR" altLang="en-US" sz="1600" dirty="0" err="1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재구동</a:t>
            </a:r>
            <a:endParaRPr lang="ko-KR" altLang="en-US" sz="1600" dirty="0"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AE6DB20-332E-4644-8F09-5C2923744A70}"/>
              </a:ext>
            </a:extLst>
          </p:cNvPr>
          <p:cNvCxnSpPr>
            <a:cxnSpLocks/>
          </p:cNvCxnSpPr>
          <p:nvPr/>
        </p:nvCxnSpPr>
        <p:spPr>
          <a:xfrm>
            <a:off x="5933811" y="3048000"/>
            <a:ext cx="0" cy="3201798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0EB9DD5-78D9-4851-AF9A-E33685DD97F6}"/>
              </a:ext>
            </a:extLst>
          </p:cNvPr>
          <p:cNvSpPr txBox="1"/>
          <p:nvPr/>
        </p:nvSpPr>
        <p:spPr>
          <a:xfrm>
            <a:off x="4527607" y="5344695"/>
            <a:ext cx="1291905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pPr algn="r"/>
            <a:r>
              <a:rPr lang="en-US" altLang="ko-KR" sz="1600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Reset MOCS</a:t>
            </a:r>
          </a:p>
          <a:p>
            <a:pPr algn="r"/>
            <a:r>
              <a:rPr lang="en-US" altLang="ko-KR" sz="1600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Operating Time</a:t>
            </a:r>
            <a:endParaRPr lang="ko-KR" altLang="en-US" sz="1600" dirty="0"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45679E-8F53-479F-BA70-6A4421E864AF}"/>
              </a:ext>
            </a:extLst>
          </p:cNvPr>
          <p:cNvSpPr txBox="1"/>
          <p:nvPr/>
        </p:nvSpPr>
        <p:spPr>
          <a:xfrm>
            <a:off x="6055731" y="1840475"/>
            <a:ext cx="1291905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r>
              <a:rPr lang="en-US" altLang="ko-KR" sz="1600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Reset S-trap Lifetime</a:t>
            </a:r>
            <a:endParaRPr lang="ko-KR" altLang="en-US" sz="1600" dirty="0"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CA0E4C4-7667-41BB-85A9-03D8767DC00C}"/>
              </a:ext>
            </a:extLst>
          </p:cNvPr>
          <p:cNvCxnSpPr>
            <a:cxnSpLocks/>
          </p:cNvCxnSpPr>
          <p:nvPr/>
        </p:nvCxnSpPr>
        <p:spPr>
          <a:xfrm>
            <a:off x="6002391" y="1442906"/>
            <a:ext cx="0" cy="4806892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00C0538-D0C7-4897-BF96-80C16D5AD87C}"/>
              </a:ext>
            </a:extLst>
          </p:cNvPr>
          <p:cNvCxnSpPr>
            <a:cxnSpLocks/>
          </p:cNvCxnSpPr>
          <p:nvPr/>
        </p:nvCxnSpPr>
        <p:spPr>
          <a:xfrm>
            <a:off x="6055731" y="4853940"/>
            <a:ext cx="0" cy="1395858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4248972-9AF6-40E8-A3E9-CF207BD8078B}"/>
              </a:ext>
            </a:extLst>
          </p:cNvPr>
          <p:cNvCxnSpPr>
            <a:cxnSpLocks/>
          </p:cNvCxnSpPr>
          <p:nvPr/>
        </p:nvCxnSpPr>
        <p:spPr>
          <a:xfrm>
            <a:off x="6170031" y="4853940"/>
            <a:ext cx="0" cy="1395858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BE6D822-4EBB-4365-8C11-0C983FEF1BB2}"/>
              </a:ext>
            </a:extLst>
          </p:cNvPr>
          <p:cNvSpPr txBox="1"/>
          <p:nvPr/>
        </p:nvSpPr>
        <p:spPr>
          <a:xfrm>
            <a:off x="6332332" y="4526771"/>
            <a:ext cx="1291905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r>
              <a:rPr lang="en-US" altLang="ko-KR" sz="1600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Reset Pump 1, 2</a:t>
            </a:r>
          </a:p>
          <a:p>
            <a:r>
              <a:rPr lang="en-US" altLang="ko-KR" sz="1600" dirty="0"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Operating Time</a:t>
            </a:r>
            <a:endParaRPr lang="ko-KR" altLang="en-US" sz="1600" dirty="0"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72927B-E60C-4569-BE7E-FB144CDDE8D3}"/>
              </a:ext>
            </a:extLst>
          </p:cNvPr>
          <p:cNvSpPr txBox="1"/>
          <p:nvPr/>
        </p:nvSpPr>
        <p:spPr>
          <a:xfrm>
            <a:off x="3082257" y="1676890"/>
            <a:ext cx="1291905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S-trap Remaining Lifetime(%)</a:t>
            </a:r>
            <a:endParaRPr lang="ko-KR" altLang="en-US" sz="1200" dirty="0">
              <a:solidFill>
                <a:schemeClr val="bg2">
                  <a:lumMod val="50000"/>
                </a:schemeClr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69BA56-D380-4D6D-A416-839EF53C6099}"/>
              </a:ext>
            </a:extLst>
          </p:cNvPr>
          <p:cNvSpPr txBox="1"/>
          <p:nvPr/>
        </p:nvSpPr>
        <p:spPr>
          <a:xfrm>
            <a:off x="2779819" y="3429000"/>
            <a:ext cx="1291905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MOCS Total Operating Time(</a:t>
            </a:r>
            <a:r>
              <a:rPr lang="en-US" altLang="ko-KR" sz="1200" dirty="0" err="1">
                <a:solidFill>
                  <a:srgbClr val="0070C0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hr</a:t>
            </a:r>
            <a:r>
              <a:rPr lang="en-US" altLang="ko-KR" sz="1200" dirty="0">
                <a:solidFill>
                  <a:srgbClr val="0070C0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)</a:t>
            </a:r>
            <a:endParaRPr lang="ko-KR" altLang="en-US" sz="1200" dirty="0">
              <a:solidFill>
                <a:srgbClr val="0070C0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F29860-5C1C-4176-8EE7-B290E5EA2945}"/>
              </a:ext>
            </a:extLst>
          </p:cNvPr>
          <p:cNvSpPr txBox="1"/>
          <p:nvPr/>
        </p:nvSpPr>
        <p:spPr>
          <a:xfrm>
            <a:off x="2711239" y="4420336"/>
            <a:ext cx="1291905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r>
              <a:rPr lang="en-US" altLang="ko-KR" sz="1200" dirty="0">
                <a:solidFill>
                  <a:srgbClr val="00C000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MOCS Operating Time(</a:t>
            </a:r>
            <a:r>
              <a:rPr lang="en-US" altLang="ko-KR" sz="1200" dirty="0" err="1">
                <a:solidFill>
                  <a:srgbClr val="00C000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hr</a:t>
            </a:r>
            <a:r>
              <a:rPr lang="en-US" altLang="ko-KR" sz="1200" dirty="0">
                <a:solidFill>
                  <a:srgbClr val="00C000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)</a:t>
            </a:r>
            <a:endParaRPr lang="ko-KR" altLang="en-US" sz="1200" dirty="0">
              <a:solidFill>
                <a:srgbClr val="00C000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EB1EC9-C1EB-4B0C-93B0-2D4F5FDA7BF6}"/>
              </a:ext>
            </a:extLst>
          </p:cNvPr>
          <p:cNvSpPr txBox="1"/>
          <p:nvPr/>
        </p:nvSpPr>
        <p:spPr>
          <a:xfrm>
            <a:off x="2711239" y="5017525"/>
            <a:ext cx="1291905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r>
              <a:rPr lang="en-US" altLang="ko-KR" sz="1200" dirty="0">
                <a:solidFill>
                  <a:srgbClr val="00C0C0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F.O. Supply Pump Operating Time(</a:t>
            </a:r>
            <a:r>
              <a:rPr lang="en-US" altLang="ko-KR" sz="1200" dirty="0" err="1">
                <a:solidFill>
                  <a:srgbClr val="00C0C0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hr</a:t>
            </a:r>
            <a:r>
              <a:rPr lang="en-US" altLang="ko-KR" sz="1200" dirty="0">
                <a:solidFill>
                  <a:srgbClr val="00C0C0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)</a:t>
            </a:r>
            <a:endParaRPr lang="ko-KR" altLang="en-US" sz="1200" dirty="0">
              <a:solidFill>
                <a:srgbClr val="00C0C0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5A7B31-0BFE-4D14-B89C-22B9333E45A3}"/>
              </a:ext>
            </a:extLst>
          </p:cNvPr>
          <p:cNvSpPr txBox="1"/>
          <p:nvPr/>
        </p:nvSpPr>
        <p:spPr>
          <a:xfrm>
            <a:off x="2711239" y="2723905"/>
            <a:ext cx="1291905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r>
              <a:rPr lang="en-US" altLang="ko-KR" sz="1200" dirty="0">
                <a:solidFill>
                  <a:srgbClr val="00C000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F.O. Supply Pump Total Operating Time(</a:t>
            </a:r>
            <a:r>
              <a:rPr lang="en-US" altLang="ko-KR" sz="1200" dirty="0" err="1">
                <a:solidFill>
                  <a:srgbClr val="00C000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hr</a:t>
            </a:r>
            <a:r>
              <a:rPr lang="en-US" altLang="ko-KR" sz="1200" dirty="0">
                <a:solidFill>
                  <a:srgbClr val="00C000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)</a:t>
            </a:r>
            <a:endParaRPr lang="ko-KR" altLang="en-US" sz="1200" dirty="0">
              <a:solidFill>
                <a:srgbClr val="00C000"/>
              </a:solidFill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489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6BF9E3A-43B8-4858-AFB5-27F6C91A0E1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S-trap Lifetime </a:t>
                </a:r>
                <a:r>
                  <a:rPr lang="ko-KR" altLang="en-US" dirty="0"/>
                  <a:t>계산식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친환경시스템설계부 제공</a:t>
                </a:r>
                <a:r>
                  <a:rPr lang="en-US" altLang="ko-KR" dirty="0"/>
                  <a:t>)</a:t>
                </a:r>
              </a:p>
              <a:p>
                <a:pPr marL="371475" lvl="1" indent="0">
                  <a:buNone/>
                </a:pP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+mn-ea"/>
                      </a:rPr>
                      <m:t>𝑺</m:t>
                    </m:r>
                    <m:r>
                      <a:rPr lang="en-US" altLang="ko-KR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lang="en-US" altLang="ko-KR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+mn-ea"/>
                      </a:rPr>
                      <m:t>𝒕𝒓𝒂𝒑</m:t>
                    </m:r>
                    <m:r>
                      <a:rPr lang="en-US" altLang="ko-KR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ko-KR" altLang="en-US" b="1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+mn-ea"/>
                      </a:rPr>
                      <m:t>실제수명</m:t>
                    </m:r>
                    <m:r>
                      <a:rPr lang="en-US" altLang="ko-KR" b="1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ko-KR" b="1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+mn-ea"/>
                      </a:rPr>
                      <m:t>𝒉𝒓</m:t>
                    </m:r>
                    <m:r>
                      <a:rPr lang="en-US" altLang="ko-KR" b="1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+mn-ea"/>
                      </a:rPr>
                      <m:t>)=</m:t>
                    </m:r>
                    <m:r>
                      <a:rPr lang="ko-KR" altLang="en-US" b="1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+mn-ea"/>
                      </a:rPr>
                      <m:t>기준수명</m:t>
                    </m:r>
                    <m:r>
                      <a:rPr lang="ko-KR" altLang="en-US" b="1" i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+mn-ea"/>
                      </a:rPr>
                      <m:t>×</m:t>
                    </m:r>
                    <m:f>
                      <m:fPr>
                        <m:ctrlPr>
                          <a:rPr lang="en-US" altLang="ko-KR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ko-KR" altLang="en-US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기준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𝑺𝑶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  <m:r>
                          <a:rPr lang="ko-KR" altLang="en-US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농도</m:t>
                        </m:r>
                      </m:num>
                      <m:den>
                        <m:r>
                          <a:rPr lang="ko-KR" altLang="en-US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실제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𝑺𝑶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  <m:r>
                          <a:rPr lang="ko-KR" altLang="en-US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농도</m:t>
                        </m:r>
                      </m:den>
                    </m:f>
                    <m:r>
                      <a:rPr lang="en-US" altLang="ko-KR" b="1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+mn-ea"/>
                      </a:rPr>
                      <m:t>×</m:t>
                    </m:r>
                    <m:f>
                      <m:fPr>
                        <m:ctrlPr>
                          <a:rPr lang="en-US" altLang="ko-KR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ko-KR" altLang="en-US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기준공간속도</m:t>
                        </m:r>
                      </m:num>
                      <m:den>
                        <m:r>
                          <a:rPr lang="ko-KR" altLang="en-US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실제공간속도</m:t>
                        </m:r>
                      </m:den>
                    </m:f>
                  </m:oMath>
                </a14:m>
                <a:r>
                  <a:rPr lang="en-US" altLang="ko-KR" b="1" dirty="0">
                    <a:solidFill>
                      <a:schemeClr val="accent6"/>
                    </a:solidFill>
                    <a:latin typeface="+mn-ea"/>
                    <a:ea typeface="+mn-ea"/>
                  </a:rPr>
                  <a:t> = </a:t>
                </a:r>
                <a14:m>
                  <m:oMath xmlns:m="http://schemas.openxmlformats.org/officeDocument/2006/math">
                    <m:r>
                      <a:rPr lang="ko-KR" altLang="ko-KR" b="1" i="1">
                        <a:solidFill>
                          <a:schemeClr val="accent6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기준수명</m:t>
                    </m:r>
                    <m:r>
                      <a:rPr lang="en-US" altLang="ko-KR" b="1" i="0">
                        <a:solidFill>
                          <a:schemeClr val="accent6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US" altLang="ko-KR" b="1" i="1">
                        <a:solidFill>
                          <a:schemeClr val="accent6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𝒉𝒓</m:t>
                    </m:r>
                    <m:r>
                      <a:rPr lang="en-US" altLang="ko-KR" b="1" i="0">
                        <a:solidFill>
                          <a:schemeClr val="accent6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  <m:r>
                      <a:rPr lang="ko-KR" altLang="ko-KR" b="1" i="0">
                        <a:solidFill>
                          <a:schemeClr val="accent6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f>
                      <m:fPr>
                        <m:ctrlP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ko-KR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기준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𝑺𝑶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  <m:r>
                          <a:rPr lang="ko-KR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농도</m:t>
                        </m:r>
                        <m:d>
                          <m:dPr>
                            <m:ctrlPr>
                              <a:rPr lang="en-US" altLang="ko-KR" b="1" i="1">
                                <a:solidFill>
                                  <a:schemeClr val="accent6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solidFill>
                                  <a:schemeClr val="accent6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𝒑𝒑𝒎</m:t>
                            </m:r>
                          </m:e>
                        </m:d>
                      </m:num>
                      <m:den>
                        <m:r>
                          <a:rPr lang="ko-KR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실제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𝑺𝑶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  <m:r>
                          <a:rPr lang="ko-KR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농도</m:t>
                        </m:r>
                        <m:d>
                          <m:dPr>
                            <m:ctrlPr>
                              <a:rPr lang="en-US" altLang="ko-KR" b="1" i="1">
                                <a:solidFill>
                                  <a:schemeClr val="accent6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solidFill>
                                  <a:schemeClr val="accent6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𝒑𝒑𝒎</m:t>
                            </m:r>
                          </m:e>
                        </m:d>
                      </m:den>
                    </m:f>
                    <m:r>
                      <a:rPr lang="en-US" altLang="ko-KR" b="1" i="1">
                        <a:solidFill>
                          <a:schemeClr val="accent6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ko-KR" altLang="en-US" b="1" i="1">
                        <a:solidFill>
                          <a:schemeClr val="accent6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기준공간속도</m:t>
                    </m:r>
                    <m:r>
                      <a:rPr lang="en-US" altLang="ko-KR" b="1" i="1">
                        <a:solidFill>
                          <a:schemeClr val="accent6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sSup>
                      <m:sSupPr>
                        <m:ctrlP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𝒉𝒓</m:t>
                        </m:r>
                      </m:e>
                      <m:sup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</m:t>
                        </m:r>
                      </m:sup>
                    </m:sSup>
                    <m:r>
                      <a:rPr lang="en-US" altLang="ko-KR" b="1" i="0">
                        <a:solidFill>
                          <a:schemeClr val="accent6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  <m:r>
                      <a:rPr lang="ko-KR" altLang="en-US" b="1" i="0">
                        <a:solidFill>
                          <a:schemeClr val="accent6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f>
                      <m:fPr>
                        <m:ctrlP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𝑺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𝒕𝒓𝒂𝒑</m:t>
                        </m:r>
                        <m:r>
                          <a:rPr lang="ko-KR" altLang="en-US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부피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𝒎</m:t>
                        </m:r>
                        <m:r>
                          <a:rPr lang="en-US" altLang="ko-KR" b="1" i="1" baseline="30000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num>
                      <m:den>
                        <m:r>
                          <a:rPr lang="ko-KR" altLang="en-US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유량</m:t>
                        </m:r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f>
                          <m:fPr>
                            <m:ctrlPr>
                              <a:rPr lang="en-US" altLang="ko-KR" b="1" i="1">
                                <a:solidFill>
                                  <a:schemeClr val="accent6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lang="en-US" altLang="ko-KR" b="1" i="1">
                                <a:solidFill>
                                  <a:schemeClr val="accent6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𝑵𝒎</m:t>
                            </m:r>
                            <m:r>
                              <a:rPr lang="en-US" altLang="ko-KR" b="1" i="1" baseline="30000">
                                <a:solidFill>
                                  <a:schemeClr val="accent6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ko-KR" b="1" i="1">
                                <a:solidFill>
                                  <a:schemeClr val="accent6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𝒉𝒓</m:t>
                            </m:r>
                          </m:den>
                        </m:f>
                        <m:r>
                          <a:rPr lang="en-US" altLang="ko-KR" b="1" i="1">
                            <a:solidFill>
                              <a:schemeClr val="accent6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b="1" dirty="0">
                  <a:solidFill>
                    <a:schemeClr val="accent6"/>
                  </a:solidFill>
                  <a:latin typeface="+mn-ea"/>
                  <a:ea typeface="+mn-ea"/>
                </a:endParaRPr>
              </a:p>
              <a:p>
                <a:pPr marL="371475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1" i="0" baseline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𝐒</m:t>
                      </m:r>
                      <m:r>
                        <a:rPr lang="en-US" altLang="ko-KR" b="1" i="0" baseline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r>
                        <a:rPr lang="en-US" altLang="ko-KR" b="1" i="1" baseline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𝒕𝒓𝒂𝒑</m:t>
                      </m:r>
                      <m:r>
                        <a:rPr lang="en-US" altLang="ko-KR" b="1" i="1" baseline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</m:t>
                      </m:r>
                      <m:r>
                        <a:rPr lang="ko-KR" altLang="en-US" b="1" i="1" baseline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+mn-ea"/>
                        </a:rPr>
                        <m:t>잔여수명</m:t>
                      </m:r>
                      <m:d>
                        <m:dPr>
                          <m:ctrlPr>
                            <a:rPr lang="en-US" altLang="ko-KR" b="1" i="1" baseline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%</m:t>
                          </m:r>
                        </m:e>
                      </m:d>
                      <m:r>
                        <a:rPr lang="en-US" altLang="ko-KR" b="1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=[</m:t>
                      </m:r>
                      <m:r>
                        <a:rPr lang="en-US" altLang="ko-KR" b="1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𝟏</m:t>
                      </m:r>
                      <m:r>
                        <a:rPr lang="en-US" altLang="ko-KR" b="1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f>
                        <m:fPr>
                          <m:ctrlPr>
                            <a:rPr lang="en-US" altLang="ko-KR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ko-KR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𝑺</m:t>
                          </m:r>
                          <m:r>
                            <a:rPr lang="en-US" altLang="ko-KR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lang="en-US" altLang="ko-KR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𝒕𝒓𝒂𝒑</m:t>
                          </m:r>
                          <m:r>
                            <a:rPr lang="en-US" altLang="ko-KR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 </m:t>
                          </m:r>
                          <m:r>
                            <a:rPr lang="ko-KR" altLang="en-US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사용량</m:t>
                          </m:r>
                          <m:r>
                            <a:rPr lang="en-US" altLang="ko-KR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𝑭𝒂𝒄𝒕𝒐𝒓</m:t>
                          </m:r>
                          <m:r>
                            <a:rPr lang="en-US" altLang="ko-KR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ko-KR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ko-KR" altLang="en-US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누적</m:t>
                              </m:r>
                            </m:e>
                          </m:d>
                        </m:num>
                        <m:den>
                          <m:r>
                            <a:rPr lang="en-US" altLang="ko-KR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𝑺</m:t>
                          </m:r>
                          <m:r>
                            <a:rPr lang="en-US" altLang="ko-KR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lang="en-US" altLang="ko-KR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𝒕𝒓𝒂𝒑</m:t>
                          </m:r>
                          <m:r>
                            <a:rPr lang="en-US" altLang="ko-KR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 </m:t>
                          </m:r>
                          <m:r>
                            <a:rPr lang="ko-KR" altLang="en-US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수명</m:t>
                          </m:r>
                          <m:r>
                            <a:rPr lang="en-US" altLang="ko-KR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𝑭𝒂𝒄𝒕𝒐𝒓</m:t>
                          </m:r>
                        </m:den>
                      </m:f>
                      <m:r>
                        <a:rPr lang="en-US" altLang="ko-KR" b="1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+mn-ea"/>
                        </a:rPr>
                        <m:t>]×</m:t>
                      </m:r>
                      <m:r>
                        <a:rPr lang="en-US" altLang="ko-KR" b="1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𝟏𝟎𝟎</m:t>
                      </m:r>
                    </m:oMath>
                  </m:oMathPara>
                </a14:m>
                <a:endParaRPr lang="en-US" altLang="ko-KR" b="1" dirty="0">
                  <a:solidFill>
                    <a:schemeClr val="accent6"/>
                  </a:solidFill>
                  <a:latin typeface="+mn-ea"/>
                  <a:ea typeface="+mn-ea"/>
                </a:endParaRPr>
              </a:p>
              <a:p>
                <a:pPr marL="371475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1" i="0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𝐒</m:t>
                      </m:r>
                      <m:r>
                        <a:rPr lang="en-US" altLang="ko-KR" b="1" i="0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n-US" altLang="ko-KR" b="1" i="0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𝐭𝐫𝐚𝐩</m:t>
                      </m:r>
                      <m:r>
                        <a:rPr lang="ko-KR" altLang="en-US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사용량</m:t>
                      </m:r>
                      <m:r>
                        <a:rPr lang="en-US" altLang="ko-KR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𝑭𝒂𝒄𝒕𝒐𝒓</m:t>
                      </m:r>
                      <m:r>
                        <a:rPr lang="en-US" altLang="ko-KR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ko-KR" altLang="en-US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공간속도</m:t>
                      </m:r>
                      <m:d>
                        <m:dPr>
                          <m:ctrlPr>
                            <a:rPr lang="en-US" altLang="ko-KR" b="1" i="1">
                              <a:solidFill>
                                <a:schemeClr val="accent6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ko-KR" altLang="en-US" b="1" i="1">
                              <a:solidFill>
                                <a:schemeClr val="accent6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운전</m:t>
                          </m:r>
                          <m:r>
                            <a:rPr lang="en-US" altLang="ko-KR" b="1" i="0">
                              <a:solidFill>
                                <a:schemeClr val="accent6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𝐋𝐨𝐚𝐝</m:t>
                          </m:r>
                          <m:r>
                            <a:rPr lang="ko-KR" altLang="en-US" b="1" i="1">
                              <a:solidFill>
                                <a:schemeClr val="accent6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기준</m:t>
                          </m:r>
                        </m:e>
                      </m:d>
                      <m:r>
                        <a:rPr lang="ko-KR" altLang="ko-KR" b="1" i="0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ko-KR" altLang="en-US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운전시간</m:t>
                      </m:r>
                      <m:r>
                        <a:rPr lang="en-US" altLang="ko-KR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en-US" altLang="ko-KR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𝑺𝑶</m:t>
                      </m:r>
                      <m:r>
                        <a:rPr lang="en-US" altLang="ko-KR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r>
                        <a:rPr lang="ko-KR" altLang="en-US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농도</m:t>
                      </m:r>
                      <m:d>
                        <m:dPr>
                          <m:ctrlPr>
                            <a:rPr lang="en-US" altLang="ko-KR" b="1" i="1">
                              <a:solidFill>
                                <a:schemeClr val="accent6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ko-KR" altLang="en-US" b="1" i="1">
                              <a:solidFill>
                                <a:schemeClr val="accent6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운전</m:t>
                          </m:r>
                          <m:r>
                            <a:rPr lang="en-US" altLang="ko-KR" b="1" i="1">
                              <a:solidFill>
                                <a:schemeClr val="accent6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𝑳𝒐𝒂𝒅</m:t>
                          </m:r>
                          <m:r>
                            <a:rPr lang="ko-KR" altLang="en-US" b="1" i="1">
                              <a:solidFill>
                                <a:schemeClr val="accent6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기준</m:t>
                          </m:r>
                        </m:e>
                      </m:d>
                    </m:oMath>
                  </m:oMathPara>
                </a14:m>
                <a:endParaRPr lang="en-US" altLang="ko-KR" b="1" i="1" dirty="0">
                  <a:solidFill>
                    <a:schemeClr val="accent6"/>
                  </a:solidFill>
                  <a:effectLst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371475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1" i="0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𝐒</m:t>
                      </m:r>
                      <m:r>
                        <a:rPr lang="en-US" altLang="ko-KR" b="1" i="0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n-US" altLang="ko-KR" b="1" i="0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𝐭𝐫𝐚𝐩</m:t>
                      </m:r>
                      <m:r>
                        <a:rPr lang="ko-KR" altLang="en-US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초기수명</m:t>
                      </m:r>
                      <m:r>
                        <a:rPr lang="en-US" altLang="ko-KR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𝑭𝒂𝒄𝒕𝒐𝒓</m:t>
                      </m:r>
                      <m:r>
                        <a:rPr lang="en-US" altLang="ko-KR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ko-KR" altLang="en-US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기준</m:t>
                      </m:r>
                      <m:r>
                        <a:rPr lang="ko-KR" altLang="ko-KR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공간속도</m:t>
                      </m:r>
                      <m:r>
                        <a:rPr lang="ko-KR" altLang="ko-KR" b="1" i="0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ko-KR" altLang="en-US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기준수명</m:t>
                      </m:r>
                      <m:r>
                        <a:rPr lang="en-US" altLang="ko-KR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ko-KR" altLang="en-US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기준</m:t>
                      </m:r>
                      <m:r>
                        <a:rPr lang="en-US" altLang="ko-KR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𝑺𝑶</m:t>
                      </m:r>
                      <m:r>
                        <a:rPr lang="en-US" altLang="ko-KR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r>
                        <a:rPr lang="ko-KR" altLang="ko-KR" b="1" i="1">
                          <a:solidFill>
                            <a:schemeClr val="accent6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농도</m:t>
                      </m:r>
                    </m:oMath>
                  </m:oMathPara>
                </a14:m>
                <a:endParaRPr lang="en-US" altLang="ko-KR" dirty="0">
                  <a:latin typeface="HD현대체  Medium" panose="02090600000101010101" pitchFamily="18" charset="-127"/>
                  <a:ea typeface="HD현대체  Medium" panose="02090600000101010101" pitchFamily="18" charset="-127"/>
                </a:endParaRPr>
              </a:p>
              <a:p>
                <a:endParaRPr lang="en-US" altLang="ko-KR" dirty="0"/>
              </a:p>
              <a:p>
                <a:r>
                  <a:rPr lang="en-US" altLang="ko-KR" dirty="0"/>
                  <a:t>S-trap Lifetime Parameter </a:t>
                </a:r>
                <a:r>
                  <a:rPr lang="ko-KR" altLang="en-US" dirty="0"/>
                  <a:t>추가</a:t>
                </a:r>
                <a:endParaRPr lang="en-US" altLang="ko-KR" dirty="0"/>
              </a:p>
              <a:p>
                <a:pPr lvl="1"/>
                <a:r>
                  <a:rPr lang="en-US" altLang="ko-KR" dirty="0">
                    <a:solidFill>
                      <a:schemeClr val="accent6"/>
                    </a:solidFill>
                  </a:rPr>
                  <a:t>S-trap Lifetime Parameter Table </a:t>
                </a:r>
                <a:r>
                  <a:rPr lang="en-US" altLang="ko-KR" dirty="0"/>
                  <a:t>Parameter Recipe </a:t>
                </a:r>
                <a:r>
                  <a:rPr lang="ko-KR" altLang="en-US" dirty="0"/>
                  <a:t>및 입력</a:t>
                </a:r>
                <a:r>
                  <a:rPr lang="ko-KR" altLang="en-US" dirty="0">
                    <a:solidFill>
                      <a:schemeClr val="accent6"/>
                    </a:solidFill>
                  </a:rPr>
                  <a:t> </a:t>
                </a:r>
                <a:r>
                  <a:rPr lang="en-US" altLang="ko-KR" dirty="0"/>
                  <a:t>HMI </a:t>
                </a:r>
                <a:r>
                  <a:rPr lang="ko-KR" altLang="en-US" dirty="0"/>
                  <a:t>추가</a:t>
                </a:r>
                <a:endParaRPr lang="en-US" altLang="ko-KR" dirty="0"/>
              </a:p>
              <a:p>
                <a:pPr lvl="1"/>
                <a:r>
                  <a:rPr lang="ko-KR" altLang="en-US" dirty="0">
                    <a:solidFill>
                      <a:schemeClr val="accent6"/>
                    </a:solidFill>
                  </a:rPr>
                  <a:t>그 외 상수들을</a:t>
                </a:r>
                <a:r>
                  <a:rPr lang="en-US" altLang="ko-KR" sz="1600" dirty="0"/>
                  <a:t> Parameter</a:t>
                </a:r>
                <a:r>
                  <a:rPr lang="ko-KR" altLang="en-US" sz="1600" dirty="0"/>
                  <a:t>로 관리하기 위해서는 데이터 구조 변경이 필요</a:t>
                </a:r>
                <a:endParaRPr lang="en-US" altLang="ko-KR" sz="1600" dirty="0"/>
              </a:p>
              <a:p>
                <a:pPr lvl="2"/>
                <a:r>
                  <a:rPr lang="en-US" altLang="ko-KR" dirty="0"/>
                  <a:t>Setting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Parameter </a:t>
                </a:r>
                <a:r>
                  <a:rPr lang="ko-KR" altLang="en-US" dirty="0"/>
                  <a:t>선정 후 양산에 반영</a:t>
                </a:r>
                <a:endParaRPr lang="ko-KR" altLang="en-US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6BF9E3A-43B8-4858-AFB5-27F6C91A0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761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2F06D14B-EB91-4154-9A30-324803691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S-trap Lifetime </a:t>
            </a:r>
            <a:r>
              <a:rPr lang="ko-KR" altLang="en-US" dirty="0"/>
              <a:t>계산 기능 구현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60F5D3-BB30-44FD-8161-C44C45152F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8CEA4E-DE70-49FF-9407-3AEF252BD6F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72BA05-FDE1-4DA9-878E-33870FA398E3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1342D3-7282-4389-B8D9-48785707DC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8" t="59343" r="27143" b="12033"/>
          <a:stretch/>
        </p:blipFill>
        <p:spPr>
          <a:xfrm>
            <a:off x="899149" y="4865616"/>
            <a:ext cx="6079825" cy="156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62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981FEB7-0EE9-4EFD-B43C-4B7FED1B42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Engine Load 25% 11.8hr + 100% 1.6hr </a:t>
            </a:r>
            <a:r>
              <a:rPr lang="ko-KR" altLang="en-US" dirty="0"/>
              <a:t>운전</a:t>
            </a:r>
            <a:r>
              <a:rPr lang="en-US" altLang="ko-KR" dirty="0"/>
              <a:t>: </a:t>
            </a:r>
            <a:r>
              <a:rPr lang="ko-KR" altLang="en-US" dirty="0"/>
              <a:t>직접 계산한 결과와 제어기 계산 결과 일치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1AAB6AA-A1FD-421F-8E90-D25B7640A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S-trap Lifetime </a:t>
            </a:r>
            <a:r>
              <a:rPr lang="ko-KR" altLang="en-US" dirty="0"/>
              <a:t>계산 기능 구현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A9FF2B-7D68-40A0-9FA8-AF5BA78457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A8A60A-2C21-4A2B-BA89-5FF1D5F7F9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72BA05-FDE1-4DA9-878E-33870FA398E3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6A7D1C-F120-48D4-89F4-FAE0C11770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350" t="4305" r="6096"/>
          <a:stretch/>
        </p:blipFill>
        <p:spPr>
          <a:xfrm>
            <a:off x="835376" y="1490502"/>
            <a:ext cx="2990004" cy="49938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4749BF2-1865-489E-A58D-5986EDDB2E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799"/>
          <a:stretch/>
        </p:blipFill>
        <p:spPr>
          <a:xfrm>
            <a:off x="4953000" y="1225837"/>
            <a:ext cx="3377837" cy="52585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CA8B85-52CD-41CF-8561-64BD29776111}"/>
              </a:ext>
            </a:extLst>
          </p:cNvPr>
          <p:cNvSpPr txBox="1"/>
          <p:nvPr/>
        </p:nvSpPr>
        <p:spPr>
          <a:xfrm>
            <a:off x="1345737" y="1718835"/>
            <a:ext cx="2924260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effectLst>
                  <a:glow rad="127000">
                    <a:schemeClr val="bg1"/>
                  </a:glow>
                </a:effectLst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S-trap Remaining Lifetime: 99.40(%)</a:t>
            </a:r>
            <a:endParaRPr lang="ko-KR" altLang="en-US" sz="1200" dirty="0">
              <a:solidFill>
                <a:schemeClr val="bg2">
                  <a:lumMod val="50000"/>
                </a:schemeClr>
              </a:solidFill>
              <a:effectLst>
                <a:glow rad="127000">
                  <a:schemeClr val="bg1"/>
                </a:glow>
              </a:effectLst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418B18-3D01-4DAB-83D4-51786C65AFC4}"/>
              </a:ext>
            </a:extLst>
          </p:cNvPr>
          <p:cNvSpPr txBox="1"/>
          <p:nvPr/>
        </p:nvSpPr>
        <p:spPr>
          <a:xfrm>
            <a:off x="1410947" y="4546171"/>
            <a:ext cx="2313766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r>
              <a:rPr lang="en-US" altLang="ko-KR" sz="1200" dirty="0">
                <a:solidFill>
                  <a:srgbClr val="00C000"/>
                </a:solidFill>
                <a:effectLst>
                  <a:glow rad="127000">
                    <a:schemeClr val="bg1"/>
                  </a:glow>
                </a:effectLst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MOCS Operating Time: 11.8 </a:t>
            </a:r>
            <a:r>
              <a:rPr lang="en-US" altLang="ko-KR" sz="1200" dirty="0" err="1">
                <a:solidFill>
                  <a:srgbClr val="00C000"/>
                </a:solidFill>
                <a:effectLst>
                  <a:glow rad="127000">
                    <a:schemeClr val="bg1"/>
                  </a:glow>
                </a:effectLst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hr</a:t>
            </a:r>
            <a:endParaRPr lang="ko-KR" altLang="en-US" sz="1200" dirty="0">
              <a:solidFill>
                <a:srgbClr val="00C000"/>
              </a:solidFill>
              <a:effectLst>
                <a:glow rad="127000">
                  <a:schemeClr val="bg1"/>
                </a:glow>
              </a:effectLst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E36184-C917-4D7B-BBC3-2F33EBB3C0D7}"/>
              </a:ext>
            </a:extLst>
          </p:cNvPr>
          <p:cNvSpPr txBox="1"/>
          <p:nvPr/>
        </p:nvSpPr>
        <p:spPr>
          <a:xfrm>
            <a:off x="5485035" y="4537120"/>
            <a:ext cx="2313766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r>
              <a:rPr lang="en-US" altLang="ko-KR" sz="1200" dirty="0">
                <a:solidFill>
                  <a:srgbClr val="00C000"/>
                </a:solidFill>
                <a:effectLst>
                  <a:glow rad="127000">
                    <a:schemeClr val="bg1"/>
                  </a:glow>
                </a:effectLst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MOCS Operating Time: 13.4 </a:t>
            </a:r>
            <a:r>
              <a:rPr lang="en-US" altLang="ko-KR" sz="1200" dirty="0" err="1">
                <a:solidFill>
                  <a:srgbClr val="00C000"/>
                </a:solidFill>
                <a:effectLst>
                  <a:glow rad="127000">
                    <a:schemeClr val="bg1"/>
                  </a:glow>
                </a:effectLst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hr</a:t>
            </a:r>
            <a:r>
              <a:rPr lang="en-US" altLang="ko-KR" sz="1200" dirty="0">
                <a:solidFill>
                  <a:srgbClr val="00C000"/>
                </a:solidFill>
                <a:effectLst>
                  <a:glow rad="127000">
                    <a:schemeClr val="bg1"/>
                  </a:glow>
                </a:effectLst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(11.8+1.6)</a:t>
            </a:r>
            <a:endParaRPr lang="ko-KR" altLang="en-US" sz="1200" dirty="0">
              <a:solidFill>
                <a:srgbClr val="00C000"/>
              </a:solidFill>
              <a:effectLst>
                <a:glow rad="127000">
                  <a:schemeClr val="bg1"/>
                </a:glow>
              </a:effectLst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7123D55-36CF-4A4F-9289-6697D5F3A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55" y="2357295"/>
            <a:ext cx="9178290" cy="177050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B7B300-637D-4C85-9365-BBA22388E237}"/>
              </a:ext>
            </a:extLst>
          </p:cNvPr>
          <p:cNvSpPr txBox="1"/>
          <p:nvPr/>
        </p:nvSpPr>
        <p:spPr>
          <a:xfrm>
            <a:off x="5266740" y="1718835"/>
            <a:ext cx="2924260" cy="327170"/>
          </a:xfrm>
          <a:prstGeom prst="rect">
            <a:avLst/>
          </a:prstGeom>
        </p:spPr>
        <p:txBody>
          <a:bodyPr wrap="none" lIns="36000" tIns="36000" rIns="36000" bIns="36000" rtlCol="0">
            <a:noAutofit/>
          </a:bodyPr>
          <a:lstStyle/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effectLst>
                  <a:glow rad="127000">
                    <a:schemeClr val="bg1"/>
                  </a:glow>
                </a:effectLst>
                <a:latin typeface="HD현대체  Medium" panose="02090600000101010101" pitchFamily="18" charset="-127"/>
                <a:ea typeface="HD현대체  Medium" panose="02090600000101010101" pitchFamily="18" charset="-127"/>
              </a:rPr>
              <a:t>S-trap Remaining Lifetime: 99.37(%)</a:t>
            </a:r>
            <a:endParaRPr lang="ko-KR" altLang="en-US" sz="1200" dirty="0">
              <a:solidFill>
                <a:schemeClr val="bg2">
                  <a:lumMod val="50000"/>
                </a:schemeClr>
              </a:solidFill>
              <a:effectLst>
                <a:glow rad="127000">
                  <a:schemeClr val="bg1"/>
                </a:glow>
              </a:effectLst>
              <a:latin typeface="HD현대체  Medium" panose="02090600000101010101" pitchFamily="18" charset="-127"/>
              <a:ea typeface="HD현대체  Medium" panose="02090600000101010101" pitchFamily="18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E6B18B4-8245-46A4-A809-CF7D4F85F29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269997" y="1882420"/>
            <a:ext cx="1979801" cy="1747105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11F0262-50FE-4DFE-A1DE-CFDC362E3C11}"/>
              </a:ext>
            </a:extLst>
          </p:cNvPr>
          <p:cNvCxnSpPr>
            <a:cxnSpLocks/>
          </p:cNvCxnSpPr>
          <p:nvPr/>
        </p:nvCxnSpPr>
        <p:spPr>
          <a:xfrm flipH="1">
            <a:off x="6641918" y="1837737"/>
            <a:ext cx="1549082" cy="2213736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2709238-5608-4934-A2A9-E7ECB929892F}"/>
              </a:ext>
            </a:extLst>
          </p:cNvPr>
          <p:cNvCxnSpPr>
            <a:cxnSpLocks/>
          </p:cNvCxnSpPr>
          <p:nvPr/>
        </p:nvCxnSpPr>
        <p:spPr>
          <a:xfrm flipH="1" flipV="1">
            <a:off x="1345737" y="3665576"/>
            <a:ext cx="65210" cy="104418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2415D72-67E4-4740-953A-EDFAE62F0AB4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1778466" y="4054521"/>
            <a:ext cx="3706569" cy="646184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236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4508E91-31B2-4ED3-8784-3F5F216E82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System Page</a:t>
            </a:r>
          </a:p>
          <a:p>
            <a:pPr lvl="1"/>
            <a:r>
              <a:rPr lang="ko-KR" altLang="en-US" dirty="0" err="1"/>
              <a:t>설계안</a:t>
            </a:r>
            <a:endParaRPr lang="en-US" altLang="ko-KR" dirty="0"/>
          </a:p>
          <a:p>
            <a:pPr lvl="2"/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</a:p>
          <a:p>
            <a:pPr lvl="2"/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</a:p>
          <a:p>
            <a:pPr lvl="2"/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  <a:p>
            <a:pPr lvl="2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F1384D9-43CC-45C3-9CB9-CBC574EDD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S-trap Lifetime Gauge </a:t>
            </a:r>
            <a:r>
              <a:rPr lang="ko-KR" altLang="en-US" dirty="0"/>
              <a:t>시각화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A19E0A-2385-47A2-9501-C55AC995D1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2ABE90-3A93-43B2-99DD-AA54861F4C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72BA05-FDE1-4DA9-878E-33870FA398E3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442BD5B3-1FF1-4718-8A46-65E722008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6" y="2508955"/>
            <a:ext cx="2164268" cy="121930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6EBE5F0-055A-4553-9DE1-B3CC9301BD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4604" t="12163" r="17259" b="12163"/>
          <a:stretch/>
        </p:blipFill>
        <p:spPr>
          <a:xfrm>
            <a:off x="3006971" y="2338583"/>
            <a:ext cx="1564640" cy="3838380"/>
          </a:xfrm>
          <a:prstGeom prst="rect">
            <a:avLst/>
          </a:prstGeom>
        </p:spPr>
      </p:pic>
      <p:sp>
        <p:nvSpPr>
          <p:cNvPr id="29" name="내용 개체 틀 1">
            <a:extLst>
              <a:ext uri="{FF2B5EF4-FFF2-40B4-BE49-F238E27FC236}">
                <a16:creationId xmlns:a16="http://schemas.microsoft.com/office/drawing/2014/main" id="{4F9E1A4A-885C-4D34-9E5A-286F6EB63DF6}"/>
              </a:ext>
            </a:extLst>
          </p:cNvPr>
          <p:cNvSpPr txBox="1">
            <a:spLocks/>
          </p:cNvSpPr>
          <p:nvPr/>
        </p:nvSpPr>
        <p:spPr>
          <a:xfrm>
            <a:off x="4815280" y="904398"/>
            <a:ext cx="4409683" cy="5272565"/>
          </a:xfrm>
          <a:prstGeom prst="rect">
            <a:avLst/>
          </a:prstGeom>
        </p:spPr>
        <p:txBody>
          <a:bodyPr lIns="72000" tIns="36000" rIns="72000" bIns="36000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ko-KR" altLang="en-US" sz="1800" b="0" i="0" kern="1200" dirty="0" smtClean="0">
                <a:solidFill>
                  <a:schemeClr val="accent4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Wingdings" panose="05000000000000000000" pitchFamily="2" charset="2"/>
              <a:buChar char="§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‒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◦"/>
              <a:defRPr lang="ko-KR" altLang="en-US" sz="1600" b="0" i="0" kern="1200" dirty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pPr lvl="1"/>
            <a:r>
              <a:rPr lang="ko-KR" altLang="en-US" dirty="0" err="1"/>
              <a:t>구현안</a:t>
            </a:r>
            <a:endParaRPr lang="ko-KR" altLang="en-US" dirty="0"/>
          </a:p>
          <a:p>
            <a:pPr lvl="2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05D5EBB-4FA6-428C-9027-FEC24DB90C0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156" t="23324" r="17242" b="9951"/>
          <a:stretch/>
        </p:blipFill>
        <p:spPr>
          <a:xfrm>
            <a:off x="5256105" y="1731256"/>
            <a:ext cx="1854729" cy="457610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F2DCC5C4-B1E9-403B-AFC7-F9CAFC697B0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6488" t="23537" r="19061" b="9737"/>
          <a:stretch/>
        </p:blipFill>
        <p:spPr>
          <a:xfrm>
            <a:off x="7551658" y="1731256"/>
            <a:ext cx="1522750" cy="4576105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5BCEA480-0065-4C67-B525-338FD123C6C6}"/>
              </a:ext>
            </a:extLst>
          </p:cNvPr>
          <p:cNvSpPr/>
          <p:nvPr/>
        </p:nvSpPr>
        <p:spPr>
          <a:xfrm>
            <a:off x="5429250" y="4191001"/>
            <a:ext cx="1079501" cy="615950"/>
          </a:xfrm>
          <a:prstGeom prst="rect">
            <a:avLst/>
          </a:prstGeom>
          <a:noFill/>
          <a:ln w="38100">
            <a:solidFill>
              <a:srgbClr val="A4FF0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D17413F-156D-4B7D-8E5B-58D0AB0DA5A6}"/>
              </a:ext>
            </a:extLst>
          </p:cNvPr>
          <p:cNvSpPr/>
          <p:nvPr/>
        </p:nvSpPr>
        <p:spPr>
          <a:xfrm>
            <a:off x="7605712" y="4191001"/>
            <a:ext cx="1079501" cy="615950"/>
          </a:xfrm>
          <a:prstGeom prst="rect">
            <a:avLst/>
          </a:prstGeom>
          <a:noFill/>
          <a:ln w="38100">
            <a:solidFill>
              <a:srgbClr val="A4FF0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38141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5580D8E-8A1E-44C3-A2E5-BBCFE56814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MOCS Time Counter Page</a:t>
            </a:r>
          </a:p>
          <a:p>
            <a:pPr lvl="1"/>
            <a:r>
              <a:rPr lang="ko-KR" altLang="en-US" dirty="0" err="1"/>
              <a:t>설계안</a:t>
            </a:r>
            <a:endParaRPr lang="en-US" altLang="ko-KR" dirty="0"/>
          </a:p>
          <a:p>
            <a:pPr lvl="2"/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</a:p>
          <a:p>
            <a:pPr lvl="2"/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</a:p>
          <a:p>
            <a:pPr lvl="2"/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79E4B87-7CF5-4F40-995F-A9FAA3C3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S-trap Lifetime Gauge </a:t>
            </a:r>
            <a:r>
              <a:rPr lang="ko-KR" altLang="en-US" dirty="0"/>
              <a:t>시각화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  <a:r>
              <a:rPr lang="en-US" altLang="ko-KR" dirty="0"/>
              <a:t>(1/4)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BD19CD-5449-43F3-BF6C-58B719C9F8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3AE606-54F9-4449-95A2-A64A56F7BC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72BA05-FDE1-4DA9-878E-33870FA398E3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85DA808-A797-4A8F-9EFC-6A3FC82DB50C}"/>
              </a:ext>
            </a:extLst>
          </p:cNvPr>
          <p:cNvSpPr txBox="1">
            <a:spLocks/>
          </p:cNvSpPr>
          <p:nvPr/>
        </p:nvSpPr>
        <p:spPr>
          <a:xfrm>
            <a:off x="4815280" y="904398"/>
            <a:ext cx="4409683" cy="5272565"/>
          </a:xfrm>
          <a:prstGeom prst="rect">
            <a:avLst/>
          </a:prstGeom>
        </p:spPr>
        <p:txBody>
          <a:bodyPr lIns="72000" tIns="36000" rIns="72000" bIns="36000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ko-KR" altLang="en-US" sz="1800" b="0" i="0" kern="1200" dirty="0" smtClean="0">
                <a:solidFill>
                  <a:schemeClr val="accent4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Wingdings" panose="05000000000000000000" pitchFamily="2" charset="2"/>
              <a:buChar char="§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‒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◦"/>
              <a:defRPr lang="ko-KR" altLang="en-US" sz="1600" b="0" i="0" kern="1200" dirty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pPr lvl="1"/>
            <a:r>
              <a:rPr lang="ko-KR" altLang="en-US" dirty="0" err="1"/>
              <a:t>구현안</a:t>
            </a:r>
            <a:endParaRPr lang="ko-KR" altLang="en-US" dirty="0"/>
          </a:p>
          <a:p>
            <a:pPr lvl="2"/>
            <a:r>
              <a:rPr lang="ko-KR" altLang="en-US" dirty="0"/>
              <a:t>양산시</a:t>
            </a:r>
            <a:r>
              <a:rPr lang="en-US" altLang="ko-KR" dirty="0"/>
              <a:t> </a:t>
            </a:r>
            <a:r>
              <a:rPr lang="ko-KR" altLang="en-US" dirty="0"/>
              <a:t>전문 개발자를 통해 </a:t>
            </a:r>
            <a:r>
              <a:rPr lang="ko-KR" altLang="en-US" dirty="0" err="1"/>
              <a:t>설계안</a:t>
            </a:r>
            <a:r>
              <a:rPr lang="ko-KR" altLang="en-US" dirty="0"/>
              <a:t> 대로 구현 예정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D0DA4B-7560-491D-8D1B-DB1D7E725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60" y="2738489"/>
            <a:ext cx="4090771" cy="24812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6750D8F-F90F-41E8-8679-E1F6F212E9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7" t="23445" r="25358" b="8936"/>
          <a:stretch/>
        </p:blipFill>
        <p:spPr>
          <a:xfrm>
            <a:off x="4953000" y="2636888"/>
            <a:ext cx="4449506" cy="268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52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7789EF0-096A-4F8B-BC4C-3E4EA933A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60" y="2738489"/>
            <a:ext cx="4090771" cy="2481287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5580D8E-8A1E-44C3-A2E5-BBCFE56814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MOCS Time Counter Page</a:t>
            </a:r>
          </a:p>
          <a:p>
            <a:pPr lvl="1"/>
            <a:r>
              <a:rPr lang="ko-KR" altLang="en-US" dirty="0" err="1"/>
              <a:t>설계안</a:t>
            </a:r>
            <a:endParaRPr lang="en-US" altLang="ko-KR" dirty="0"/>
          </a:p>
          <a:p>
            <a:pPr lvl="2"/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</a:p>
          <a:p>
            <a:pPr lvl="2"/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</a:p>
          <a:p>
            <a:pPr lvl="2"/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79E4B87-7CF5-4F40-995F-A9FAA3C3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S-trap Lifetime Gauge </a:t>
            </a:r>
            <a:r>
              <a:rPr lang="ko-KR" altLang="en-US" dirty="0"/>
              <a:t>시각화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  <a:r>
              <a:rPr lang="en-US" altLang="ko-KR" dirty="0"/>
              <a:t>(2/4)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BD19CD-5449-43F3-BF6C-58B719C9F8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3AE606-54F9-4449-95A2-A64A56F7BC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72BA05-FDE1-4DA9-878E-33870FA398E3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85DA808-A797-4A8F-9EFC-6A3FC82DB50C}"/>
              </a:ext>
            </a:extLst>
          </p:cNvPr>
          <p:cNvSpPr txBox="1">
            <a:spLocks/>
          </p:cNvSpPr>
          <p:nvPr/>
        </p:nvSpPr>
        <p:spPr>
          <a:xfrm>
            <a:off x="4815280" y="904398"/>
            <a:ext cx="4409683" cy="5272565"/>
          </a:xfrm>
          <a:prstGeom prst="rect">
            <a:avLst/>
          </a:prstGeom>
        </p:spPr>
        <p:txBody>
          <a:bodyPr lIns="72000" tIns="36000" rIns="72000" bIns="36000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ko-KR" altLang="en-US" sz="1800" b="0" i="0" kern="1200" dirty="0" smtClean="0">
                <a:solidFill>
                  <a:schemeClr val="accent4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Wingdings" panose="05000000000000000000" pitchFamily="2" charset="2"/>
              <a:buChar char="§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‒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◦"/>
              <a:defRPr lang="ko-KR" altLang="en-US" sz="1600" b="0" i="0" kern="1200" dirty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pPr lvl="1"/>
            <a:r>
              <a:rPr lang="ko-KR" altLang="en-US" dirty="0" err="1"/>
              <a:t>구현안</a:t>
            </a:r>
            <a:endParaRPr lang="en-US" altLang="ko-KR" dirty="0"/>
          </a:p>
          <a:p>
            <a:pPr lvl="2"/>
            <a:r>
              <a:rPr lang="ko-KR" altLang="en-US" dirty="0"/>
              <a:t>양산시</a:t>
            </a:r>
            <a:r>
              <a:rPr lang="en-US" altLang="ko-KR" dirty="0"/>
              <a:t> </a:t>
            </a:r>
            <a:r>
              <a:rPr lang="ko-KR" altLang="en-US" dirty="0"/>
              <a:t>전문 개발자를 통해 </a:t>
            </a:r>
            <a:r>
              <a:rPr lang="ko-KR" altLang="en-US" dirty="0" err="1"/>
              <a:t>설계안</a:t>
            </a:r>
            <a:r>
              <a:rPr lang="ko-KR" altLang="en-US" dirty="0"/>
              <a:t> 대로 구현 예정</a:t>
            </a:r>
          </a:p>
          <a:p>
            <a:pPr lvl="2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6851F1D-8644-4EAC-BEAE-027C4DB22B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5" t="23333" r="25511" b="8879"/>
          <a:stretch/>
        </p:blipFill>
        <p:spPr>
          <a:xfrm>
            <a:off x="4963154" y="2633533"/>
            <a:ext cx="4436026" cy="269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238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2D3F07A-B823-4EC8-AA24-F54C75953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60" y="2738488"/>
            <a:ext cx="4090771" cy="2481287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5580D8E-8A1E-44C3-A2E5-BBCFE56814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MOCS Time Counter Page</a:t>
            </a:r>
          </a:p>
          <a:p>
            <a:pPr lvl="1"/>
            <a:r>
              <a:rPr lang="ko-KR" altLang="en-US" dirty="0" err="1"/>
              <a:t>설계안</a:t>
            </a:r>
            <a:endParaRPr lang="en-US" altLang="ko-KR" dirty="0"/>
          </a:p>
          <a:p>
            <a:pPr lvl="2"/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</a:p>
          <a:p>
            <a:pPr lvl="2"/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</a:p>
          <a:p>
            <a:pPr lvl="2"/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79E4B87-7CF5-4F40-995F-A9FAA3C3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S-trap Lifetime Gauge </a:t>
            </a:r>
            <a:r>
              <a:rPr lang="ko-KR" altLang="en-US" dirty="0"/>
              <a:t>시각화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  <a:r>
              <a:rPr lang="en-US" altLang="ko-KR" dirty="0"/>
              <a:t>(3/4)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BD19CD-5449-43F3-BF6C-58B719C9F8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3AE606-54F9-4449-95A2-A64A56F7BC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72BA05-FDE1-4DA9-878E-33870FA398E3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85DA808-A797-4A8F-9EFC-6A3FC82DB50C}"/>
              </a:ext>
            </a:extLst>
          </p:cNvPr>
          <p:cNvSpPr txBox="1">
            <a:spLocks/>
          </p:cNvSpPr>
          <p:nvPr/>
        </p:nvSpPr>
        <p:spPr>
          <a:xfrm>
            <a:off x="4815280" y="904398"/>
            <a:ext cx="4409683" cy="5272565"/>
          </a:xfrm>
          <a:prstGeom prst="rect">
            <a:avLst/>
          </a:prstGeom>
        </p:spPr>
        <p:txBody>
          <a:bodyPr lIns="72000" tIns="36000" rIns="72000" bIns="36000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ko-KR" altLang="en-US" sz="1800" b="0" i="0" kern="1200" dirty="0" smtClean="0">
                <a:solidFill>
                  <a:schemeClr val="accent4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Wingdings" panose="05000000000000000000" pitchFamily="2" charset="2"/>
              <a:buChar char="§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‒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◦"/>
              <a:defRPr lang="ko-KR" altLang="en-US" sz="1600" b="0" i="0" kern="1200" dirty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pPr lvl="1"/>
            <a:r>
              <a:rPr lang="ko-KR" altLang="en-US" dirty="0" err="1"/>
              <a:t>구현안</a:t>
            </a:r>
            <a:endParaRPr lang="en-US" altLang="ko-KR" dirty="0"/>
          </a:p>
          <a:p>
            <a:pPr lvl="2"/>
            <a:r>
              <a:rPr lang="ko-KR" altLang="en-US" dirty="0"/>
              <a:t>양산시</a:t>
            </a:r>
            <a:r>
              <a:rPr lang="en-US" altLang="ko-KR" dirty="0"/>
              <a:t> </a:t>
            </a:r>
            <a:r>
              <a:rPr lang="ko-KR" altLang="en-US" dirty="0"/>
              <a:t>전문 개발자를 통해 </a:t>
            </a:r>
            <a:r>
              <a:rPr lang="ko-KR" altLang="en-US" dirty="0" err="1"/>
              <a:t>설계안</a:t>
            </a:r>
            <a:r>
              <a:rPr lang="ko-KR" altLang="en-US" dirty="0"/>
              <a:t> 대로 구현 예정</a:t>
            </a:r>
          </a:p>
          <a:p>
            <a:pPr lvl="2"/>
            <a:endParaRPr lang="ko-KR" altLang="en-US" dirty="0"/>
          </a:p>
          <a:p>
            <a:pPr lvl="2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D9F53D6-555F-4F9D-8F8F-AEBBB36150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07" t="23416" r="25466" b="9086"/>
          <a:stretch/>
        </p:blipFill>
        <p:spPr>
          <a:xfrm>
            <a:off x="4953000" y="2639281"/>
            <a:ext cx="4442253" cy="26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200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4CAB41BE-71F2-458C-B39D-CF75DAE66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60" y="2738488"/>
            <a:ext cx="4090771" cy="2481287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5580D8E-8A1E-44C3-A2E5-BBCFE56814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MOCS Time Counter Page</a:t>
            </a:r>
          </a:p>
          <a:p>
            <a:pPr lvl="1"/>
            <a:r>
              <a:rPr lang="ko-KR" altLang="en-US" dirty="0" err="1"/>
              <a:t>설계안</a:t>
            </a:r>
            <a:endParaRPr lang="en-US" altLang="ko-KR" dirty="0"/>
          </a:p>
          <a:p>
            <a:pPr lvl="2"/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</a:p>
          <a:p>
            <a:pPr lvl="2"/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</a:p>
          <a:p>
            <a:pPr lvl="2"/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79E4B87-7CF5-4F40-995F-A9FAA3C3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S-trap Lifetime Gauge </a:t>
            </a:r>
            <a:r>
              <a:rPr lang="ko-KR" altLang="en-US" dirty="0"/>
              <a:t>시각화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  <a:r>
              <a:rPr lang="en-US" altLang="ko-KR" dirty="0"/>
              <a:t>(4/4)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BD19CD-5449-43F3-BF6C-58B719C9F8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3AE606-54F9-4449-95A2-A64A56F7BC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72BA05-FDE1-4DA9-878E-33870FA398E3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85DA808-A797-4A8F-9EFC-6A3FC82DB50C}"/>
              </a:ext>
            </a:extLst>
          </p:cNvPr>
          <p:cNvSpPr txBox="1">
            <a:spLocks/>
          </p:cNvSpPr>
          <p:nvPr/>
        </p:nvSpPr>
        <p:spPr>
          <a:xfrm>
            <a:off x="4815280" y="904398"/>
            <a:ext cx="4409683" cy="5272565"/>
          </a:xfrm>
          <a:prstGeom prst="rect">
            <a:avLst/>
          </a:prstGeom>
        </p:spPr>
        <p:txBody>
          <a:bodyPr lIns="72000" tIns="36000" rIns="72000" bIns="36000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ko-KR" altLang="en-US" sz="1800" b="0" i="0" kern="1200" dirty="0" smtClean="0">
                <a:solidFill>
                  <a:schemeClr val="accent4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Wingdings" panose="05000000000000000000" pitchFamily="2" charset="2"/>
              <a:buChar char="§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‒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◦"/>
              <a:defRPr lang="ko-KR" altLang="en-US" sz="1600" b="0" i="0" kern="1200" dirty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pPr lvl="1"/>
            <a:r>
              <a:rPr lang="ko-KR" altLang="en-US" dirty="0" err="1"/>
              <a:t>구현안</a:t>
            </a:r>
            <a:endParaRPr lang="en-US" altLang="ko-KR" dirty="0"/>
          </a:p>
          <a:p>
            <a:pPr lvl="2"/>
            <a:r>
              <a:rPr lang="ko-KR" altLang="en-US" dirty="0"/>
              <a:t>양산시</a:t>
            </a:r>
            <a:r>
              <a:rPr lang="en-US" altLang="ko-KR" dirty="0"/>
              <a:t> </a:t>
            </a:r>
            <a:r>
              <a:rPr lang="ko-KR" altLang="en-US" dirty="0"/>
              <a:t>전문 개발자를 통해 </a:t>
            </a:r>
            <a:r>
              <a:rPr lang="ko-KR" altLang="en-US" dirty="0" err="1"/>
              <a:t>설계안</a:t>
            </a:r>
            <a:r>
              <a:rPr lang="ko-KR" altLang="en-US" dirty="0"/>
              <a:t> 대로 구현 예정</a:t>
            </a:r>
          </a:p>
          <a:p>
            <a:pPr lvl="1"/>
            <a:endParaRPr lang="ko-KR" altLang="en-US" dirty="0"/>
          </a:p>
          <a:p>
            <a:pPr lvl="2"/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2A60E02-4936-4621-95F0-CA34249920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30" t="23436" r="25515" b="9309"/>
          <a:stretch/>
        </p:blipFill>
        <p:spPr>
          <a:xfrm>
            <a:off x="4967363" y="2644112"/>
            <a:ext cx="4431817" cy="267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939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24940C8-7C68-4046-8934-251E43882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Reset Button </a:t>
            </a:r>
            <a:r>
              <a:rPr lang="ko-KR" altLang="en-US" dirty="0"/>
              <a:t>선택 </a:t>
            </a:r>
            <a:r>
              <a:rPr lang="en-US" altLang="ko-KR" dirty="0"/>
              <a:t>&gt;</a:t>
            </a:r>
            <a:r>
              <a:rPr lang="ko-KR" altLang="en-US" dirty="0"/>
              <a:t> 확인 </a:t>
            </a:r>
            <a:r>
              <a:rPr lang="en-US" altLang="ko-KR" dirty="0"/>
              <a:t>Popup </a:t>
            </a:r>
            <a:r>
              <a:rPr lang="ko-KR" altLang="en-US" dirty="0"/>
              <a:t>창</a:t>
            </a:r>
            <a:endParaRPr lang="en-US" altLang="ko-KR" dirty="0"/>
          </a:p>
          <a:p>
            <a:pPr lvl="1"/>
            <a:r>
              <a:rPr lang="ko-KR" altLang="en-US" dirty="0" err="1"/>
              <a:t>설계안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MOCS: </a:t>
            </a:r>
            <a:r>
              <a:rPr lang="en-US" altLang="ko-KR" sz="1600" dirty="0"/>
              <a:t>Please ensure the second layer catalyst(MOC) inside the chamber has been replaced before proceeding.</a:t>
            </a:r>
            <a:endParaRPr lang="ko-KR" altLang="en-US" sz="1600" dirty="0"/>
          </a:p>
          <a:p>
            <a:pPr lvl="2"/>
            <a:r>
              <a:rPr lang="en-US" altLang="ko-KR" dirty="0"/>
              <a:t>S-trap: </a:t>
            </a:r>
            <a:r>
              <a:rPr lang="en-US" altLang="ko-KR" sz="1600" dirty="0"/>
              <a:t>Please ensure the first layer catalyst(S-trap) inside the chamber has been replaced before proceeding.</a:t>
            </a:r>
            <a:endParaRPr lang="ko-KR" altLang="en-US" sz="1600" dirty="0"/>
          </a:p>
          <a:p>
            <a:pPr lvl="2"/>
            <a:r>
              <a:rPr lang="en-US" altLang="ko-KR" dirty="0"/>
              <a:t>Pump: </a:t>
            </a:r>
            <a:r>
              <a:rPr lang="en-US" altLang="ko-KR" sz="1600" dirty="0"/>
              <a:t>Please ensure the No.1/2 Pump inside the F.O</a:t>
            </a:r>
            <a:r>
              <a:rPr lang="ko-KR" altLang="en-US" sz="1600" dirty="0"/>
              <a:t> </a:t>
            </a:r>
            <a:r>
              <a:rPr lang="en-US" altLang="ko-KR" sz="1600" dirty="0"/>
              <a:t>Supply</a:t>
            </a:r>
            <a:r>
              <a:rPr lang="ko-KR" altLang="en-US" sz="1600" dirty="0"/>
              <a:t> </a:t>
            </a:r>
            <a:r>
              <a:rPr lang="en-US" altLang="ko-KR" sz="1600" dirty="0"/>
              <a:t>pump</a:t>
            </a:r>
            <a:r>
              <a:rPr lang="ko-KR" altLang="en-US" sz="1600" dirty="0"/>
              <a:t> </a:t>
            </a:r>
            <a:r>
              <a:rPr lang="en-US" altLang="ko-KR" sz="1600" dirty="0"/>
              <a:t>has been replaced before proceeding.</a:t>
            </a:r>
            <a:endParaRPr lang="ko-KR" altLang="en-US" sz="1600" dirty="0"/>
          </a:p>
          <a:p>
            <a:pPr lvl="2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9550DD6-1384-49A8-BDA8-456BEF77A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MOCS </a:t>
            </a:r>
            <a:r>
              <a:rPr lang="ko-KR" altLang="en-US" dirty="0"/>
              <a:t>운전기록 </a:t>
            </a:r>
            <a:r>
              <a:rPr lang="en-US" altLang="ko-KR" dirty="0"/>
              <a:t>Reset </a:t>
            </a:r>
            <a:r>
              <a:rPr lang="ko-KR" altLang="en-US" dirty="0"/>
              <a:t>기능 구현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B3F46A-3292-4457-977B-BF514F1247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0280F5-6000-4154-931A-C6FADAC4ED5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72BA05-FDE1-4DA9-878E-33870FA398E3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9C82CF-C41D-48A1-8A45-E7D09B748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60" y="1713089"/>
            <a:ext cx="4090771" cy="248128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42B5042-3274-44E8-AD16-F3B101D874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40" t="22987" r="25463" b="8901"/>
          <a:stretch/>
        </p:blipFill>
        <p:spPr>
          <a:xfrm>
            <a:off x="4961403" y="1600200"/>
            <a:ext cx="4437777" cy="2707063"/>
          </a:xfrm>
          <a:prstGeom prst="rect">
            <a:avLst/>
          </a:prstGeom>
        </p:spPr>
      </p:pic>
      <p:sp>
        <p:nvSpPr>
          <p:cNvPr id="11" name="내용 개체 틀 1">
            <a:extLst>
              <a:ext uri="{FF2B5EF4-FFF2-40B4-BE49-F238E27FC236}">
                <a16:creationId xmlns:a16="http://schemas.microsoft.com/office/drawing/2014/main" id="{7CC8C982-C55F-48C7-9B8B-044A6F7A7FA3}"/>
              </a:ext>
            </a:extLst>
          </p:cNvPr>
          <p:cNvSpPr txBox="1">
            <a:spLocks/>
          </p:cNvSpPr>
          <p:nvPr/>
        </p:nvSpPr>
        <p:spPr>
          <a:xfrm>
            <a:off x="4815280" y="904398"/>
            <a:ext cx="4409683" cy="5272565"/>
          </a:xfrm>
          <a:prstGeom prst="rect">
            <a:avLst/>
          </a:prstGeom>
        </p:spPr>
        <p:txBody>
          <a:bodyPr lIns="72000" tIns="36000" rIns="72000" bIns="36000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ko-KR" altLang="en-US" sz="1800" b="0" i="0" kern="1200" dirty="0" smtClean="0">
                <a:solidFill>
                  <a:schemeClr val="accent4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Wingdings" panose="05000000000000000000" pitchFamily="2" charset="2"/>
              <a:buChar char="§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‒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◦"/>
              <a:defRPr lang="ko-KR" altLang="en-US" sz="1600" b="0" i="0" kern="1200" dirty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pPr lvl="1"/>
            <a:r>
              <a:rPr lang="ko-KR" altLang="en-US" dirty="0" err="1"/>
              <a:t>구현안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3503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8F6902BA-F207-4EE2-910F-26A559E098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0" t="23539" r="25591" b="9366"/>
          <a:stretch/>
        </p:blipFill>
        <p:spPr>
          <a:xfrm>
            <a:off x="4961403" y="1611477"/>
            <a:ext cx="4429388" cy="26845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BC66903-BCDE-42E5-AA11-EE2DA2820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60" y="1713089"/>
            <a:ext cx="4090771" cy="2481287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24940C8-7C68-4046-8934-251E43882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확인 </a:t>
            </a:r>
            <a:r>
              <a:rPr lang="en-US" altLang="ko-KR" dirty="0"/>
              <a:t>Popup </a:t>
            </a:r>
            <a:r>
              <a:rPr lang="ko-KR" altLang="en-US" dirty="0"/>
              <a:t>창 </a:t>
            </a:r>
            <a:r>
              <a:rPr lang="en-US" altLang="ko-KR" dirty="0"/>
              <a:t>Yes Button </a:t>
            </a:r>
            <a:r>
              <a:rPr lang="ko-KR" altLang="en-US" dirty="0"/>
              <a:t>선택 </a:t>
            </a:r>
            <a:r>
              <a:rPr lang="en-US" altLang="ko-KR" dirty="0"/>
              <a:t>&gt; Warning Popup </a:t>
            </a:r>
            <a:r>
              <a:rPr lang="ko-KR" altLang="en-US" dirty="0"/>
              <a:t>창</a:t>
            </a:r>
            <a:endParaRPr lang="en-US" altLang="ko-KR" dirty="0"/>
          </a:p>
          <a:p>
            <a:pPr lvl="1"/>
            <a:r>
              <a:rPr lang="ko-KR" altLang="en-US" dirty="0" err="1"/>
              <a:t>설계안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MOCS: </a:t>
            </a:r>
            <a:r>
              <a:rPr lang="en-US" altLang="ko-KR" sz="1600" dirty="0"/>
              <a:t>Once the time is reset, it cannot be undone. If the catalyst has NOT been replaced, MOCS performance prediction may be inaccurate.</a:t>
            </a:r>
            <a:endParaRPr lang="ko-KR" altLang="en-US" sz="1600" dirty="0"/>
          </a:p>
          <a:p>
            <a:pPr lvl="2"/>
            <a:r>
              <a:rPr lang="en-US" altLang="ko-KR" dirty="0"/>
              <a:t>S-trap: </a:t>
            </a:r>
            <a:r>
              <a:rPr lang="en-US" altLang="ko-KR" sz="1600" dirty="0"/>
              <a:t>Once the gauge is reset, it cannot be undone. If the catalyst has NOT been replaced, MOCS performance prediction may be inaccurate.</a:t>
            </a:r>
            <a:endParaRPr lang="ko-KR" altLang="en-US" sz="1600" dirty="0"/>
          </a:p>
          <a:p>
            <a:pPr lvl="2"/>
            <a:r>
              <a:rPr lang="en-US" altLang="ko-KR" dirty="0"/>
              <a:t>Pump: </a:t>
            </a:r>
            <a:r>
              <a:rPr lang="en-US" altLang="ko-KR" sz="1600" dirty="0"/>
              <a:t>Once the time is reset, it cannot be undone. If the pump has NOT been replaced, MOCS performance prediction may be inaccurate.</a:t>
            </a:r>
            <a:endParaRPr lang="ko-KR" altLang="en-US" sz="16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9550DD6-1384-49A8-BDA8-456BEF77A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MOCS </a:t>
            </a:r>
            <a:r>
              <a:rPr lang="ko-KR" altLang="en-US" dirty="0"/>
              <a:t>운전기록 </a:t>
            </a:r>
            <a:r>
              <a:rPr lang="en-US" altLang="ko-KR" dirty="0"/>
              <a:t>Reset </a:t>
            </a:r>
            <a:r>
              <a:rPr lang="ko-KR" altLang="en-US" dirty="0"/>
              <a:t>기능 구현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B3F46A-3292-4457-977B-BF514F1247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0280F5-6000-4154-931A-C6FADAC4ED5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72BA05-FDE1-4DA9-878E-33870FA398E3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1" name="내용 개체 틀 1">
            <a:extLst>
              <a:ext uri="{FF2B5EF4-FFF2-40B4-BE49-F238E27FC236}">
                <a16:creationId xmlns:a16="http://schemas.microsoft.com/office/drawing/2014/main" id="{7CC8C982-C55F-48C7-9B8B-044A6F7A7FA3}"/>
              </a:ext>
            </a:extLst>
          </p:cNvPr>
          <p:cNvSpPr txBox="1">
            <a:spLocks/>
          </p:cNvSpPr>
          <p:nvPr/>
        </p:nvSpPr>
        <p:spPr>
          <a:xfrm>
            <a:off x="4815280" y="904398"/>
            <a:ext cx="4409683" cy="5272565"/>
          </a:xfrm>
          <a:prstGeom prst="rect">
            <a:avLst/>
          </a:prstGeom>
        </p:spPr>
        <p:txBody>
          <a:bodyPr lIns="72000" tIns="36000" rIns="72000" bIns="36000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ko-KR" altLang="en-US" sz="1800" b="0" i="0" kern="1200" dirty="0" smtClean="0">
                <a:solidFill>
                  <a:schemeClr val="accent4"/>
                </a:solidFill>
                <a:latin typeface="HD현대체  Medium" panose="02090600000101010101" pitchFamily="18" charset="-127"/>
                <a:ea typeface="HD현대체  Medium" panose="02090600000101010101" pitchFamily="18" charset="-127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Wingdings" panose="05000000000000000000" pitchFamily="2" charset="2"/>
              <a:buChar char="§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‒"/>
              <a:defRPr lang="ko-KR" altLang="en-US" sz="1600" b="0" i="0" kern="1200" dirty="0" smtClean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100000"/>
              </a:lnSpc>
              <a:spcBef>
                <a:spcPts val="406"/>
              </a:spcBef>
              <a:buFontTx/>
              <a:buChar char="◦"/>
              <a:defRPr lang="ko-KR" altLang="en-US" sz="1600" b="0" i="0" kern="1200" dirty="0">
                <a:solidFill>
                  <a:schemeClr val="accent6"/>
                </a:solidFill>
                <a:latin typeface="Noto Sans Light" panose="020B0402040504020204" pitchFamily="34" charset="0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pPr lvl="1"/>
            <a:r>
              <a:rPr lang="ko-KR" altLang="en-US" dirty="0" err="1"/>
              <a:t>구현안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9407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76E4A05-A579-465B-88CF-270EFB7B64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  <a:endParaRPr lang="ko-KR" altLang="en-US" sz="1600" dirty="0"/>
          </a:p>
          <a:p>
            <a:pPr lvl="1"/>
            <a:r>
              <a:rPr lang="en-US" altLang="ko-KR" dirty="0"/>
              <a:t>MOCS </a:t>
            </a:r>
            <a:r>
              <a:rPr lang="ko-KR" altLang="en-US" dirty="0"/>
              <a:t>운전 기록 정보 제공을 통한 사용자 편의성 향상</a:t>
            </a:r>
            <a:endParaRPr lang="en-US" altLang="ko-KR" dirty="0"/>
          </a:p>
          <a:p>
            <a:pPr lvl="2"/>
            <a:r>
              <a:rPr lang="ko-KR" altLang="en-US" dirty="0"/>
              <a:t>제어기 재부팅 및 </a:t>
            </a:r>
            <a:r>
              <a:rPr lang="en-US" altLang="ko-KR" dirty="0"/>
              <a:t>Update </a:t>
            </a:r>
            <a:r>
              <a:rPr lang="ko-KR" altLang="en-US" dirty="0"/>
              <a:t>시 과거 운전 기록 유지하여 </a:t>
            </a:r>
            <a:r>
              <a:rPr lang="en-US" altLang="ko-KR" dirty="0"/>
              <a:t>SW </a:t>
            </a:r>
            <a:r>
              <a:rPr lang="ko-KR" altLang="en-US" dirty="0"/>
              <a:t>유지 보수 편의성 향상</a:t>
            </a:r>
            <a:endParaRPr lang="en-US" altLang="ko-KR" dirty="0"/>
          </a:p>
          <a:p>
            <a:pPr lvl="3"/>
            <a:r>
              <a:rPr lang="en-US" altLang="ko-KR" dirty="0"/>
              <a:t>Time Counter </a:t>
            </a:r>
            <a:r>
              <a:rPr lang="ko-KR" altLang="en-US" dirty="0"/>
              <a:t>동작하고 </a:t>
            </a:r>
            <a:r>
              <a:rPr lang="en-US" altLang="ko-KR" dirty="0"/>
              <a:t>1</a:t>
            </a:r>
            <a:r>
              <a:rPr lang="ko-KR" altLang="en-US" dirty="0"/>
              <a:t>분 마다 </a:t>
            </a:r>
            <a:r>
              <a:rPr lang="en-US" altLang="ko-KR" dirty="0"/>
              <a:t>Recipe</a:t>
            </a:r>
            <a:r>
              <a:rPr lang="ko-KR" altLang="en-US" dirty="0"/>
              <a:t>에 운전 기록 저장 기능 개발 완료</a:t>
            </a:r>
          </a:p>
          <a:p>
            <a:pPr lvl="3"/>
            <a:r>
              <a:rPr lang="ko-KR" altLang="en-US" dirty="0"/>
              <a:t>제어기 구동 시 </a:t>
            </a:r>
            <a:r>
              <a:rPr lang="en-US" altLang="ko-KR" dirty="0"/>
              <a:t>Recipe File</a:t>
            </a:r>
            <a:r>
              <a:rPr lang="ko-KR" altLang="en-US" dirty="0"/>
              <a:t>에서 운전 기록 불러와서 시작 기능 개발 완료</a:t>
            </a:r>
            <a:endParaRPr lang="en-US" altLang="ko-KR" dirty="0"/>
          </a:p>
          <a:p>
            <a:pPr lvl="3"/>
            <a:r>
              <a:rPr lang="ko-KR" altLang="en-US" dirty="0"/>
              <a:t>운전기록 </a:t>
            </a:r>
            <a:r>
              <a:rPr lang="en-US" altLang="ko-KR" dirty="0"/>
              <a:t>Reset </a:t>
            </a:r>
            <a:r>
              <a:rPr lang="ko-KR" altLang="en-US" dirty="0"/>
              <a:t>및 경고 </a:t>
            </a:r>
            <a:r>
              <a:rPr lang="en-US" altLang="ko-KR" dirty="0"/>
              <a:t>Popup </a:t>
            </a:r>
            <a:r>
              <a:rPr lang="ko-KR" altLang="en-US" dirty="0"/>
              <a:t>창 </a:t>
            </a:r>
            <a:r>
              <a:rPr lang="en-US" altLang="ko-KR" dirty="0"/>
              <a:t>HMI </a:t>
            </a:r>
            <a:r>
              <a:rPr lang="ko-KR" altLang="en-US" dirty="0"/>
              <a:t>기능 개발 완료</a:t>
            </a:r>
            <a:endParaRPr lang="en-US" altLang="ko-KR" dirty="0"/>
          </a:p>
          <a:p>
            <a:pPr lvl="2"/>
            <a:r>
              <a:rPr lang="en-US" altLang="ko-KR" dirty="0"/>
              <a:t>S-trap Lifetime </a:t>
            </a:r>
            <a:r>
              <a:rPr lang="ko-KR" altLang="en-US" dirty="0"/>
              <a:t>계산 및 시각화를 통해 </a:t>
            </a:r>
            <a:r>
              <a:rPr lang="en-US" altLang="ko-KR" dirty="0"/>
              <a:t>S-trap </a:t>
            </a:r>
            <a:r>
              <a:rPr lang="ko-KR" altLang="en-US" dirty="0"/>
              <a:t>교환 시점에 대한 정보를 제공</a:t>
            </a:r>
            <a:endParaRPr lang="en-US" altLang="ko-KR" dirty="0"/>
          </a:p>
          <a:p>
            <a:pPr lvl="3"/>
            <a:r>
              <a:rPr lang="en-US" altLang="ko-KR" dirty="0"/>
              <a:t>S-trap Lifetime </a:t>
            </a:r>
            <a:r>
              <a:rPr lang="ko-KR" altLang="en-US" dirty="0"/>
              <a:t>계산에 필요한 </a:t>
            </a:r>
            <a:r>
              <a:rPr lang="en-US" altLang="ko-KR" dirty="0"/>
              <a:t>Parameter </a:t>
            </a:r>
            <a:r>
              <a:rPr lang="ko-KR" altLang="en-US" dirty="0"/>
              <a:t>추가 및 </a:t>
            </a:r>
            <a:r>
              <a:rPr lang="en-US" altLang="ko-KR" dirty="0"/>
              <a:t>HMI </a:t>
            </a:r>
            <a:r>
              <a:rPr lang="ko-KR" altLang="en-US" dirty="0"/>
              <a:t>개발 완료</a:t>
            </a:r>
            <a:endParaRPr lang="en-US" altLang="ko-KR" dirty="0"/>
          </a:p>
          <a:p>
            <a:pPr lvl="3"/>
            <a:r>
              <a:rPr lang="en-US" altLang="ko-KR" dirty="0"/>
              <a:t>S-trap </a:t>
            </a:r>
            <a:r>
              <a:rPr lang="ko-KR" altLang="en-US" dirty="0"/>
              <a:t>누적 사용 수명 </a:t>
            </a:r>
            <a:r>
              <a:rPr lang="en-US" altLang="ko-KR" dirty="0"/>
              <a:t>Factor</a:t>
            </a:r>
            <a:r>
              <a:rPr lang="ko-KR" altLang="en-US" dirty="0"/>
              <a:t>를 계산하여 </a:t>
            </a:r>
            <a:r>
              <a:rPr lang="en-US" altLang="ko-KR" dirty="0"/>
              <a:t>S-trap </a:t>
            </a:r>
            <a:r>
              <a:rPr lang="ko-KR" altLang="en-US" dirty="0"/>
              <a:t>기대 수명 </a:t>
            </a:r>
            <a:r>
              <a:rPr lang="en-US" altLang="ko-KR" dirty="0"/>
              <a:t>Factor</a:t>
            </a:r>
            <a:r>
              <a:rPr lang="ko-KR" altLang="en-US" dirty="0"/>
              <a:t>와 비교를 통한 잔여 수명</a:t>
            </a:r>
            <a:r>
              <a:rPr lang="en-US" altLang="ko-KR" dirty="0"/>
              <a:t>(%) </a:t>
            </a:r>
            <a:r>
              <a:rPr lang="ko-KR" altLang="en-US" dirty="0"/>
              <a:t>계산 기능 개발 완료</a:t>
            </a:r>
          </a:p>
          <a:p>
            <a:pPr lvl="3"/>
            <a:r>
              <a:rPr lang="en-US" altLang="ko-KR" dirty="0"/>
              <a:t>Progress bar </a:t>
            </a:r>
            <a:r>
              <a:rPr lang="ko-KR" altLang="en-US" dirty="0"/>
              <a:t>및 색 변경을 통한 </a:t>
            </a:r>
            <a:r>
              <a:rPr lang="en-US" altLang="ko-KR" dirty="0"/>
              <a:t>S-trap </a:t>
            </a:r>
            <a:r>
              <a:rPr lang="ko-KR" altLang="en-US" dirty="0"/>
              <a:t>잔여 수명 시각화 및 교환 시점 정보 제공 기능 개발 완료</a:t>
            </a:r>
          </a:p>
          <a:p>
            <a:pPr lvl="2"/>
            <a:r>
              <a:rPr lang="en-US" altLang="ko-KR" dirty="0"/>
              <a:t>COSMO</a:t>
            </a:r>
            <a:r>
              <a:rPr lang="ko-KR" altLang="en-US" dirty="0"/>
              <a:t>를 통한 운전</a:t>
            </a:r>
            <a:r>
              <a:rPr lang="en-US" altLang="ko-KR" dirty="0"/>
              <a:t> </a:t>
            </a:r>
            <a:r>
              <a:rPr lang="ko-KR" altLang="en-US" dirty="0"/>
              <a:t>기록 </a:t>
            </a:r>
            <a:r>
              <a:rPr lang="en-US" altLang="ko-KR" dirty="0"/>
              <a:t>Monitoring </a:t>
            </a:r>
            <a:r>
              <a:rPr lang="ko-KR" altLang="en-US" dirty="0"/>
              <a:t>및 저장 기능 개발 완료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결과물</a:t>
            </a:r>
            <a:endParaRPr lang="en-US" altLang="ko-KR" sz="1600" dirty="0"/>
          </a:p>
          <a:p>
            <a:pPr lvl="1"/>
            <a:r>
              <a:rPr lang="en-US" altLang="ko-KR" dirty="0"/>
              <a:t>PLC, HMI, COSMO SW update</a:t>
            </a:r>
            <a:endParaRPr lang="ko-KR" altLang="en-US" dirty="0"/>
          </a:p>
          <a:p>
            <a:pPr marL="371475" lvl="1" indent="0">
              <a:buNone/>
            </a:pPr>
            <a:endParaRPr lang="en-US" altLang="ko-KR" sz="1400" dirty="0"/>
          </a:p>
          <a:p>
            <a:r>
              <a:rPr lang="ko-KR" altLang="en-US" dirty="0"/>
              <a:t>향후 일정</a:t>
            </a:r>
            <a:endParaRPr lang="en-US" altLang="ko-KR" dirty="0"/>
          </a:p>
          <a:p>
            <a:pPr lvl="1"/>
            <a:r>
              <a:rPr lang="en-US" altLang="ko-KR" dirty="0"/>
              <a:t>‘26.2 ~ S 0.1% MOCS </a:t>
            </a:r>
            <a:r>
              <a:rPr lang="ko-KR" altLang="en-US" dirty="0"/>
              <a:t>바이패스 개선 촉매</a:t>
            </a:r>
            <a:r>
              <a:rPr lang="en-US" altLang="ko-KR" dirty="0"/>
              <a:t>/</a:t>
            </a:r>
            <a:r>
              <a:rPr lang="ko-KR" altLang="en-US" dirty="0"/>
              <a:t>챔버 엔진연계시험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C2B3AE3-B436-4384-9C5B-5949F5BC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 및 향후 일정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D7FE65-5075-4403-8D3D-CDF4B66399D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443150" y="6529054"/>
            <a:ext cx="1730158" cy="304134"/>
          </a:xfrm>
        </p:spPr>
        <p:txBody>
          <a:bodyPr/>
          <a:lstStyle/>
          <a:p>
            <a:fld id="{F572BA05-FDE1-4DA9-878E-33870FA398E3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D9BCBEF5-E59F-491E-BA08-9816ED1705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altLang="ko-KR"/>
              <a:t>/ 14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6231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D현대 경영기획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E600"/>
      </a:accent1>
      <a:accent2>
        <a:srgbClr val="00AD1D"/>
      </a:accent2>
      <a:accent3>
        <a:srgbClr val="008233"/>
      </a:accent3>
      <a:accent4>
        <a:srgbClr val="003087"/>
      </a:accent4>
      <a:accent5>
        <a:srgbClr val="002554"/>
      </a:accent5>
      <a:accent6>
        <a:srgbClr val="63666A"/>
      </a:accent6>
      <a:hlink>
        <a:srgbClr val="E0E0E1"/>
      </a:hlink>
      <a:folHlink>
        <a:srgbClr val="B1B2B4"/>
      </a:folHlink>
    </a:clrScheme>
    <a:fontScheme name="경영기획실">
      <a:majorFont>
        <a:latin typeface="HD현대체 Bold"/>
        <a:ea typeface="HD현대체 Bold"/>
        <a:cs typeface=""/>
      </a:majorFont>
      <a:minorFont>
        <a:latin typeface="HD현대체  Light"/>
        <a:ea typeface="HD현대체 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36000" tIns="36000" rIns="36000" bIns="36000">
        <a:noAutofit/>
      </a:bodyPr>
      <a:lstStyle>
        <a:defPPr>
          <a:defRPr dirty="0" smtClean="0"/>
        </a:defPPr>
      </a:lstStyle>
    </a:txDef>
  </a:objectDefaults>
  <a:extraClrSchemeLst/>
  <a:custClrLst>
    <a:custClr name="Dark Green">
      <a:srgbClr val="024638"/>
    </a:custClr>
    <a:custClr name="Gray">
      <a:srgbClr val="63666A"/>
    </a:custClr>
    <a:custClr name="Green Gray">
      <a:srgbClr val="BFCEC2"/>
    </a:custClr>
    <a:custClr name="Blue Gray">
      <a:srgbClr val="DBE2E9"/>
    </a:custClr>
    <a:custClr name="Bright Green">
      <a:srgbClr val="79D97C"/>
    </a:custClr>
    <a:custClr name="Light Green">
      <a:srgbClr val="C7E995"/>
    </a:custClr>
    <a:custClr name="Light Blue">
      <a:srgbClr val="B1E4E3"/>
    </a:custClr>
  </a:custClrLst>
  <a:extLst>
    <a:ext uri="{05A4C25C-085E-4340-85A3-A5531E510DB2}">
      <thm15:themeFamily xmlns:thm15="http://schemas.microsoft.com/office/thememl/2012/main" name="HD PPT template_Noto_20221219" id="{18A37E77-172D-684F-87A7-2BD15A0FFF1C}" vid="{6C95D7EF-9106-9444-98E9-01DC8BAAB7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8E29DAF6064BBA6EEBE930439605" ma:contentTypeVersion="11" ma:contentTypeDescription="Create a new document." ma:contentTypeScope="" ma:versionID="671ae0f7c485a746a044c378affc158f">
  <xsd:schema xmlns:xsd="http://www.w3.org/2001/XMLSchema" xmlns:xs="http://www.w3.org/2001/XMLSchema" xmlns:p="http://schemas.microsoft.com/office/2006/metadata/properties" xmlns:ns3="f3280ff0-2757-4a28-854e-98499167869c" targetNamespace="http://schemas.microsoft.com/office/2006/metadata/properties" ma:root="true" ma:fieldsID="8490df4c7ed4ec61cbe2d51c765a1212" ns3:_="">
    <xsd:import namespace="f3280ff0-2757-4a28-854e-9849916786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80ff0-2757-4a28-854e-9849916786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A60F61-1BCC-4666-A985-26411DDACE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926B0F-2E8A-44B1-B098-50D32BB9E408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infopath/2007/PartnerControls"/>
    <ds:schemaRef ds:uri="f3280ff0-2757-4a28-854e-98499167869c"/>
  </ds:schemaRefs>
</ds:datastoreItem>
</file>

<file path=customXml/itemProps3.xml><?xml version="1.0" encoding="utf-8"?>
<ds:datastoreItem xmlns:ds="http://schemas.openxmlformats.org/officeDocument/2006/customXml" ds:itemID="{9124FC8C-4E00-4D9C-B4F4-DF34515FB7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280ff0-2757-4a28-854e-9849916786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83432</TotalTime>
  <Words>1124</Words>
  <Application>Microsoft Office PowerPoint</Application>
  <PresentationFormat>A4 용지(210x297mm)</PresentationFormat>
  <Paragraphs>219</Paragraphs>
  <Slides>14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HD현대체  Light</vt:lpstr>
      <vt:lpstr>HD현대체  Medium</vt:lpstr>
      <vt:lpstr>HD현대체 Bold</vt:lpstr>
      <vt:lpstr>Noto Sans Light</vt:lpstr>
      <vt:lpstr>맑은 고딕</vt:lpstr>
      <vt:lpstr>Arial</vt:lpstr>
      <vt:lpstr>Cambria Math</vt:lpstr>
      <vt:lpstr>Noto Sans</vt:lpstr>
      <vt:lpstr>Wingdings</vt:lpstr>
      <vt:lpstr>Office Theme</vt:lpstr>
      <vt:lpstr>PowerPoint 프레젠테이션</vt:lpstr>
      <vt:lpstr>요약</vt:lpstr>
      <vt:lpstr>MOCS 운전 기록 저장 기능 개발</vt:lpstr>
      <vt:lpstr>MOCS 운전 기록 저장 및 초기화 기능 구현</vt:lpstr>
      <vt:lpstr>S-trap Lifetime 계산 기능 구현(1/2)</vt:lpstr>
      <vt:lpstr>S-trap Lifetime 계산 기능 구현(2/2)</vt:lpstr>
      <vt:lpstr>S-trap Lifetime Gauge 시각화 구현</vt:lpstr>
      <vt:lpstr>S-trap Lifetime Gauge 시각화 구현(1/4)</vt:lpstr>
      <vt:lpstr>S-trap Lifetime Gauge 시각화 구현(2/4)</vt:lpstr>
      <vt:lpstr>S-trap Lifetime Gauge 시각화 구현(3/4)</vt:lpstr>
      <vt:lpstr>S-trap Lifetime Gauge 시각화 구현(4/4)</vt:lpstr>
      <vt:lpstr>MOCS 운전기록 Reset 기능 구현(1/2)</vt:lpstr>
      <vt:lpstr>MOCS 운전기록 Reset 기능 구현(2/2)</vt:lpstr>
      <vt:lpstr>결론 및 향후 일정</vt:lpstr>
    </vt:vector>
  </TitlesOfParts>
  <Company>HD현대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경영기획실</dc:creator>
  <cp:lastModifiedBy>강혜현(Kang, Hyehyun)/책임연구원/지능제어시스템연구실/HD현대중공업</cp:lastModifiedBy>
  <cp:revision>1517</cp:revision>
  <cp:lastPrinted>2025-04-29T11:23:28Z</cp:lastPrinted>
  <dcterms:created xsi:type="dcterms:W3CDTF">2022-12-19T08:05:17Z</dcterms:created>
  <dcterms:modified xsi:type="dcterms:W3CDTF">2026-01-29T02:09:00Z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f1469a-2c2a-4aee-b92b-090d4c5468ff_Enabled">
    <vt:lpwstr>true</vt:lpwstr>
  </property>
  <property fmtid="{D5CDD505-2E9C-101B-9397-08002B2CF9AE}" pid="3" name="MSIP_Label_38f1469a-2c2a-4aee-b92b-090d4c5468ff_SetDate">
    <vt:lpwstr>2022-12-07T07:14:46Z</vt:lpwstr>
  </property>
  <property fmtid="{D5CDD505-2E9C-101B-9397-08002B2CF9AE}" pid="4" name="MSIP_Label_38f1469a-2c2a-4aee-b92b-090d4c5468ff_Method">
    <vt:lpwstr>Standard</vt:lpwstr>
  </property>
  <property fmtid="{D5CDD505-2E9C-101B-9397-08002B2CF9AE}" pid="5" name="MSIP_Label_38f1469a-2c2a-4aee-b92b-090d4c5468ff_Name">
    <vt:lpwstr>Confidential - Unmarked</vt:lpwstr>
  </property>
  <property fmtid="{D5CDD505-2E9C-101B-9397-08002B2CF9AE}" pid="6" name="MSIP_Label_38f1469a-2c2a-4aee-b92b-090d4c5468ff_SiteId">
    <vt:lpwstr>2a6e6092-73e4-4752-b1a5-477a17f5056d</vt:lpwstr>
  </property>
  <property fmtid="{D5CDD505-2E9C-101B-9397-08002B2CF9AE}" pid="7" name="MSIP_Label_38f1469a-2c2a-4aee-b92b-090d4c5468ff_ActionId">
    <vt:lpwstr>2ea41d1e-86d9-4106-bb6c-a3c198ad9f08</vt:lpwstr>
  </property>
  <property fmtid="{D5CDD505-2E9C-101B-9397-08002B2CF9AE}" pid="8" name="MSIP_Label_38f1469a-2c2a-4aee-b92b-090d4c5468ff_ContentBits">
    <vt:lpwstr>0</vt:lpwstr>
  </property>
  <property fmtid="{D5CDD505-2E9C-101B-9397-08002B2CF9AE}" pid="9" name="ContentTypeId">
    <vt:lpwstr>0x010100744F8E29DAF6064BBA6EEBE930439605</vt:lpwstr>
  </property>
</Properties>
</file>